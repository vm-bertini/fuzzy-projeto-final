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2560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Sistemas Neuro-Fuzzy para Classificação de Risco Cardíaco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0332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ECEFF1"/>
                </a:solidFill>
              </a:rPr>
              <a:t>Comparação entre ANFIS e MLP: Acurácia vs Interpretabilidade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634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Victor M. Bertini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CEFF1"/>
                </a:solidFill>
              </a:rPr>
              <a:t>Junho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Motivação: O Custo da Caixa-Preta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Mestrado — Lógica Fuzzy  |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0">
                <a:solidFill>
                  <a:srgbClr val="212121"/>
                </a:solidFill>
              </a:rPr>
              <a:t>📌  Modelos de ML alcançam alta acurácia em diagnóstico cardíaco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212121"/>
                </a:solidFill>
              </a:rPr>
              <a:t>⚠️   Mas médicos precisam ENTENDER a decisão — não apenas confiar nela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212121"/>
                </a:solidFill>
              </a:rPr>
              <a:t>🏥  "Por que este paciente foi classificado como alto risco?"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212121"/>
                </a:solidFill>
              </a:rPr>
              <a:t>📋  Regulações e protocolos clínicos exigem rastreabilidade das decisões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212121"/>
                </a:solidFill>
              </a:rPr>
              <a:t>🔍  Redes neurais tradicionais (MLP) são completamente opacas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212121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212121"/>
                </a:solidFill>
              </a:rPr>
              <a:t>→  Pergunta central: é possível ter desempenho comparável COM interpretabilidade?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A Lacuna: Acurácia vs Interpretabilidade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Mestrado — Lógica Fuzzy  |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029200" cy="42062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A1"/>
                </a:solidFill>
              </a:rPr>
              <a:t>MLP (Caixa-Preta)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✓  Alta acurácia (AUC ≈ 0.91)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✓  Treinamento rápido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✗  Zero interpretabilidade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✗  Não gera regras auditáveis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✗  Inaceitável em contextos regulados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029200" cy="420624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ANFIS (Neuro-Fuzzy)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116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✓  Acurácia comparável (AUC ≈ 0.90)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✓  Regras linguísticas auditáveis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✓  Parâmetros com significado físico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✓  13× menos parâmetros que MLP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?  Treinamento mais lento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3200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55A64"/>
                </a:solidFill>
              </a:rPr>
              <a:t>←  vs 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Estrutura da Apresentação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Mestrado — Lógica Fuzzy  |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103601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0">
                <a:solidFill>
                  <a:srgbClr val="212121"/>
                </a:solidFill>
              </a:rPr>
              <a:t>1.  Framework Teórico — Sistemas Fuzzy TS e arquitetura ANFIS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212121"/>
                </a:solidFill>
              </a:rPr>
              <a:t>2.  Dataset e Configuração Experimental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212121"/>
                </a:solidFill>
              </a:rPr>
              <a:t>3.  Pipeline de Geração de Regras via K-Means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212121"/>
                </a:solidFill>
              </a:rPr>
              <a:t>4.  Resultados: Métricas, MFs Aprendidas e Regras Extraídas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212121"/>
                </a:solidFill>
              </a:rPr>
              <a:t>5.  Análise Comparativa ANFIS × MLP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212121"/>
                </a:solidFill>
              </a:rPr>
              <a:t>6.  Conclusões e Trabalho Futuro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Framework Teórico: ANFIS como TS Treinável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Mestrado — Lógica Fuzzy  |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828800"/>
            <a:ext cx="182880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Entrada
[batch, n_feat]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55A64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828800"/>
            <a:ext cx="1828800" cy="10972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MixedFuzzyLayer
[batch, n_feat, max_mfs]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55A64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828800"/>
            <a:ext cx="1828800" cy="10972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ClusterRuleLayer
[batch, n_rules]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55A64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828800"/>
            <a:ext cx="1828800" cy="10972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DefuzzyLayer
[batch, 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55A64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0" y="1828800"/>
            <a:ext cx="1828800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Sigmoid
→ P(doença)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00400"/>
            <a:ext cx="112745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MixedFuzzyLayer  — MFs Gaussianas treináveis (numéricas) + one-hot suavizado (categóricas)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ClusterRuleLayer — T-norma produto sobre combinações de MFs geradas por K-Means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DefuzzyLayer     — nn.Linear(n_regras → 1): pesos = consequentes Takagi-Sugeno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Loss: BCEWithLogits + penalidade de separação de centros (evita MFs sobrepostas)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Dataset e Configuração Experimental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Mestrado — Lógica Fuzzy  |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47A1"/>
                </a:solidFill>
              </a:rPr>
              <a:t>Heart Failure Prediction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918 pacientes adultos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Variável alvo: HeartDisease (0/1) — prevalência 55%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Split: 80% treino / 20% teste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Features numéricas (5):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   Age, RestingBP, Cholesterol, MaxHR, Oldpeak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Features categóricas (6):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   Sex, ChestPainType, FastingBS,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   RestingECG, ExerciseAngina, ST_Slope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47A1"/>
                </a:solidFill>
              </a:rPr>
              <a:t>Configuração do Experimento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NUM_MFS = 3  (baixo / médio / alto)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ANFIS_N_CLUSTERS = 200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Épocas ANFIS = 200  |  Épocas MLP = 200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Batch size = 32  |  lr = 1e-3  (Adam)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MLP: [64, 32] neurônios ocultos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Pré-processamento: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   PartialScaler — z-score apenas nas numéricas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   Categóricas: códigos inteiros preservados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Geração de Regras: K-Means como Inicializador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Mestrado — Lógica Fuzzy  |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0">
                <a:solidFill>
                  <a:srgbClr val="212121"/>
                </a:solidFill>
              </a:rPr>
              <a:t>1.  K-Means (200 clusters) particiona o espaço de entrada em regiões densas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212121"/>
                </a:solidFill>
              </a:rPr>
              <a:t>2.  Para cada centro de cluster → mapeamento de MF dominante por feature: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212121"/>
                </a:solidFill>
              </a:rPr>
              <a:t>       • Numérica:   argmax da MF triangular (picos = percentis da distribuição)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212121"/>
                </a:solidFill>
              </a:rPr>
              <a:t>       • Categórica: arredondamento para código inteiro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212121"/>
                </a:solidFill>
              </a:rPr>
              <a:t>3.  Deduplicação: clusters com mesmo padrão de MFs → uma única regra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212121"/>
                </a:solidFill>
              </a:rPr>
              <a:t>4.  Resultado: pool de N regras únicas como esqueleto antecedente do ANFIS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212121"/>
                </a:solidFill>
              </a:rPr>
              <a:t>5.  Centros Gaussianos do ANFIS inicializados nos percentis dos centros K-Means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212121"/>
                </a:solidFill>
              </a:rPr>
              <a:t>6.  ANFIS refina centros, variâncias e pesos consequentes via backpropagation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Resultados: Métricas de Desempenho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Mestrado — Lógica Fuzzy  |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1783080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Modelo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554480"/>
            <a:ext cx="1508760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Parâmetros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554480"/>
            <a:ext cx="1508760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Treino (s)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1554480"/>
            <a:ext cx="1691640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Acurácia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554480"/>
            <a:ext cx="1783080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0" y="1554480"/>
            <a:ext cx="1783080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1783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212121"/>
                </a:solidFill>
              </a:rPr>
              <a:t>ANFIS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2331720"/>
            <a:ext cx="15087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212121"/>
                </a:solidFill>
              </a:rPr>
              <a:t>228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2331720"/>
            <a:ext cx="15087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212121"/>
                </a:solidFill>
              </a:rPr>
              <a:t>13,8 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2331720"/>
            <a:ext cx="16916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212121"/>
                </a:solidFill>
              </a:rPr>
              <a:t>83,2 %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2331720"/>
            <a:ext cx="1783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212121"/>
                </a:solidFill>
              </a:rPr>
              <a:t>84,7 %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2331720"/>
            <a:ext cx="1783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212121"/>
                </a:solidFill>
              </a:rPr>
              <a:t>0,903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63240"/>
            <a:ext cx="1783080" cy="64008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212121"/>
                </a:solidFill>
              </a:rPr>
              <a:t>MLP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063240"/>
            <a:ext cx="1508760" cy="64008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212121"/>
                </a:solidFill>
              </a:rPr>
              <a:t>2.881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3063240"/>
            <a:ext cx="1508760" cy="64008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212121"/>
                </a:solidFill>
              </a:rPr>
              <a:t>4,6 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3063240"/>
            <a:ext cx="1691640" cy="64008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212121"/>
                </a:solidFill>
              </a:rPr>
              <a:t>83,7 %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3063240"/>
            <a:ext cx="1783080" cy="64008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212121"/>
                </a:solidFill>
              </a:rPr>
              <a:t>85,0 %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0" y="3063240"/>
            <a:ext cx="1783080" cy="64008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212121"/>
                </a:solidFill>
              </a:rPr>
              <a:t>0,910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023360"/>
            <a:ext cx="1090879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0">
                <a:solidFill>
                  <a:srgbClr val="212121"/>
                </a:solidFill>
              </a:rPr>
              <a:t>▸  ANFIS atinge AUC 0,903 com apenas 228 parâmetros treináveis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212121"/>
                </a:solidFill>
              </a:rPr>
              <a:t>▸  MLP precisa de 13× mais parâmetros para ganhar apenas 0,007 de AUC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212121"/>
                </a:solidFill>
              </a:rPr>
              <a:t>▸  Diferença de acurácia e F1 é estatisticamente negligenciável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Funções de Pertinência Aprendidas pelo ANFIS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Mestrado — Lógica Fuzzy  |  2026</a:t>
            </a:r>
          </a:p>
        </p:txBody>
      </p:sp>
      <p:pic>
        <p:nvPicPr>
          <p:cNvPr id="5" name="Picture 4" descr="mfs_anf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4031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Regras Linguísticas Extraídas (Top-5 por Ativação)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Mestrado — Lógica Fuzzy  |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0879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Regra 1 (alto risco):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   SE Age=idoso E ChestPainType=ASY E MaxHR=baixa E ExerciseAngina=Y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   E Oldpeak=elevado E ST_Slope=Flat  →  ENTÃO risco = ALTO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Regra 2 (baixo risco):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   SE Age=jovem E ChestPainType=ATA E MaxHR=alta E ExerciseAngina=N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   E Oldpeak=normal E ST_Slope=Up  →  ENTÃO risco = BAIXO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Regra 3 (alto risco):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   SE Age=idoso E ChestPainType=ASY E Cholesterol=desejável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</a:rPr>
              <a:t>   E ExerciseAngina=Y E ST_Slope=Flat  →  ENTÃO risco = ALTO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Comparação de Risco: ANFIS vs MLP por Paciente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Mestrado — Lógica Fuzzy  |  2026</a:t>
            </a:r>
          </a:p>
        </p:txBody>
      </p:sp>
      <p:pic>
        <p:nvPicPr>
          <p:cNvPr id="5" name="Picture 4" descr="ris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4031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Análise: ANFIS como Alternativa Interpretável ao MLP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Mestrado — Lógica Fuzzy  |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4552" cy="91440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B5E20"/>
                </a:solidFill>
              </a:rPr>
              <a:t>ANFIS perde apenas 0,007 de AUC em relação ao MLP, com 13× menos parâmetros e regras linguísticas auditáveis.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9087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Eficiência paramétrica: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   228 vs 2.881 parâmetros — MFs e pesos têm interpretação direta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Interpretabilidade genuína: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   Centros Gaussianos treinados revelam os limiares clínicos aprendidos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   ST_Slope=Flat + ExerciseAngina=Y + Oldpeak elevado → padrão de alto risco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Tradeoff de velocidade: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   ANFIS: 13,8 s (200 épocas) vs MLP: 4,6 s — aceitável em produção offline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Pontos de Atenção e Limitações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Mestrado — Lógica Fuzzy  |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1.  Explosão de regras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       n_regras = n_mfs^n_inputs → inviável sem seleção de features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       Solução aplicada: K-Means como filtro + deduplicação de combos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2.  Features categóricas em sistemas fuzzy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       Não existe "grau de pertinência" natural entre categorias discretas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       MixedFuzzyLayer usa one-hot suavizado como aproximação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3.  Sensibilidade à inicialização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       K-Means determinístico com semente fixa — resultados podem variar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       Penalidade de separação mitiga colapso de MFs durante treino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Conclusões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Mestrado — Lógica Fuzzy  |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59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0">
                <a:solidFill>
                  <a:srgbClr val="212121"/>
                </a:solidFill>
              </a:rPr>
              <a:t>✅  ANFIS atinge AUC 0,903 — comparável ao MLP (0,910) neste dataset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212121"/>
                </a:solidFill>
              </a:rPr>
              <a:t>✅  228 parâmetros treináveis vs 2.881 do MLP (13× mais eficiente)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212121"/>
                </a:solidFill>
              </a:rPr>
              <a:t>✅  Regras linguísticas auditáveis por especialistas médicos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212121"/>
                </a:solidFill>
              </a:rPr>
              <a:t>✅  Pipeline reproduzível: K-Means → inicialização → treino end-to-end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212121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212121"/>
                </a:solidFill>
              </a:rPr>
              <a:t>→  ANFIS é uma alternativa viável quando interpretabilidade é requisito,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212121"/>
                </a:solidFill>
              </a:rPr>
              <a:t>    sem sacrifício significativo de desempenho preditivo.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Limitações e Trabalho Futuro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Mestrado — Lógica Fuzzy  |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Limitações atuais: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   • Testado em um único dataset (Heart Failure, 918 amostras)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   • Features categóricas sem MFs formalmente definidas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   • Tempo de treino superior ao MLP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Próximos passos: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   • Validar em datasets maiores e multi-classe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   • Incorporar conhecimento especialista na inicialização das MFs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   • Comparar com XGBoost + SHAP como baseline explicável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12121"/>
                </a:solidFill>
              </a:rPr>
              <a:t>   • Interface de extração de regras em linguagem natural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CEFF1"/>
                </a:solidFill>
              </a:rPr>
              <a:t>victor.m.bertini@gmail.com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CEFF1"/>
                </a:solidFill>
              </a:rPr>
              <a:t>github.com/vm-bertini/Fuzzy-Projeto-Final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"ANFIS: interpretabilidade sem sacrificar performance"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Apêndice — Matriz de Confusão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Mestrado — Lógica Fuzzy  |  2026</a:t>
            </a:r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36015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Apêndice — Heatmap das Regras ANFIS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Mestrado — Lógica Fuzzy  |  2026</a:t>
            </a:r>
          </a:p>
        </p:txBody>
      </p:sp>
      <p:pic>
        <p:nvPicPr>
          <p:cNvPr id="5" name="Picture 4" descr="rul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4031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Apêndice — Partição K-Means (pré-ANFIS)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Mestrado — Lógica Fuzzy  |  2026</a:t>
            </a:r>
          </a:p>
        </p:txBody>
      </p:sp>
      <p:pic>
        <p:nvPicPr>
          <p:cNvPr id="5" name="Picture 4" descr="mfs_k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40312" cy="5212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