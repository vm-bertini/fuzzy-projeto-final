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2103120"/>
            <a:ext cx="12188952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029200"/>
            <a:ext cx="12188952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2286000"/>
            <a:ext cx="113659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12121"/>
                </a:solidFill>
              </a:rPr>
              <a:t>Sistemas Neuro-Fuzzy para Classificação de Risco Cardíaco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611880"/>
            <a:ext cx="113659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56B72"/>
                </a:solidFill>
              </a:rPr>
              <a:t>Comparação entre ANFIS e MLP: Acurácia vs Interpretabilidade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257800"/>
            <a:ext cx="113659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56B72"/>
                </a:solidFill>
              </a:rPr>
              <a:t>Victor M. Bertini   |   FEEC / Unicamp   |   Junho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Motivação: O Custo da Caixa-Preta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1365992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600">
                <a:solidFill>
                  <a:srgbClr val="212121"/>
                </a:solidFill>
              </a:rPr>
              <a:t>▸  Modelos de ML atingem alta acurácia em diagnóstico cardíaco</a:t>
            </a:r>
          </a:p>
          <a:p>
            <a:pPr algn="l">
              <a:spcBef>
                <a:spcPts val="300"/>
              </a:spcBef>
            </a:pPr>
            <a:r>
              <a:rPr sz="1600">
                <a:solidFill>
                  <a:srgbClr val="212121"/>
                </a:solidFill>
              </a:rPr>
              <a:t>▸  Médicos precisam ENTENDER a decisão — não apenas confiar nela</a:t>
            </a:r>
          </a:p>
          <a:p>
            <a:pPr algn="l">
              <a:spcBef>
                <a:spcPts val="300"/>
              </a:spcBef>
            </a:pPr>
            <a:r>
              <a:rPr sz="1600">
                <a:solidFill>
                  <a:srgbClr val="212121"/>
                </a:solidFill>
              </a:rPr>
              <a:t>▸  "Por que este paciente foi classificado como alto risco?"</a:t>
            </a:r>
          </a:p>
          <a:p>
            <a:pPr algn="l">
              <a:spcBef>
                <a:spcPts val="300"/>
              </a:spcBef>
            </a:pPr>
            <a:r>
              <a:rPr sz="1600">
                <a:solidFill>
                  <a:srgbClr val="212121"/>
                </a:solidFill>
              </a:rPr>
              <a:t>▸  Regulações clínicas exigem rastreabilidade das decisões</a:t>
            </a:r>
          </a:p>
          <a:p>
            <a:pPr algn="l">
              <a:spcBef>
                <a:spcPts val="300"/>
              </a:spcBef>
            </a:pPr>
            <a:r>
              <a:rPr sz="1600">
                <a:solidFill>
                  <a:srgbClr val="212121"/>
                </a:solidFill>
              </a:rPr>
              <a:t>▸  Redes neurais tradicionais (MLP) não fornecem nenhuma explicação</a:t>
            </a:r>
          </a:p>
          <a:p>
            <a:pPr algn="l">
              <a:spcBef>
                <a:spcPts val="300"/>
              </a:spcBef>
            </a:pPr>
            <a:r>
              <a:rPr sz="1600">
                <a:solidFill>
                  <a:srgbClr val="212121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600">
                <a:solidFill>
                  <a:srgbClr val="212121"/>
                </a:solidFill>
              </a:rPr>
              <a:t>→  Pergunta central:</a:t>
            </a:r>
          </a:p>
          <a:p>
            <a:pPr algn="l">
              <a:spcBef>
                <a:spcPts val="300"/>
              </a:spcBef>
            </a:pPr>
            <a:r>
              <a:rPr sz="1600">
                <a:solidFill>
                  <a:srgbClr val="212121"/>
                </a:solidFill>
              </a:rPr>
              <a:t>    É possível ter desempenho comparável ao MLP com interpretabilidade linguística?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 Lacuna: Acurácia vs Interpretabilidade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5394960" cy="50292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C3F6E"/>
                </a:solidFill>
              </a:rPr>
              <a:t>MLP  —  Caixa-Preta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✓  Alta acurácia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✓  Treinamento rápido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✗  Zero interpretabilidade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✗  Nenhuma regra auditável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✗  Inaceitável em contextos regulados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33375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556B72"/>
                </a:solidFill>
              </a:rPr>
              <a:t>vs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143000"/>
            <a:ext cx="5394960" cy="50292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</a:rPr>
              <a:t>ANFIS  —  Neuro-Fuzzy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69164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✓  Acurácia comparável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✓  Regras linguísticas auditáveis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✓  Parâmetros com significado físico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✓  13× menos parâmetros que MLP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~  Treinamento ligeiramente mais lento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Estrutura da Apresentação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1365992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700">
                <a:solidFill>
                  <a:srgbClr val="212121"/>
                </a:solidFill>
              </a:rPr>
              <a:t>1.   Arquitetura ANFIS — camada a camada com equações</a:t>
            </a:r>
          </a:p>
          <a:p>
            <a:pPr algn="l">
              <a:spcBef>
                <a:spcPts val="700"/>
              </a:spcBef>
            </a:pPr>
            <a:r>
              <a:rPr sz="1700">
                <a:solidFill>
                  <a:srgbClr val="212121"/>
                </a:solidFill>
              </a:rPr>
              <a:t>2.   Dataset e Configuração Experimental</a:t>
            </a:r>
          </a:p>
          <a:p>
            <a:pPr algn="l">
              <a:spcBef>
                <a:spcPts val="700"/>
              </a:spcBef>
            </a:pPr>
            <a:r>
              <a:rPr sz="1700">
                <a:solidFill>
                  <a:srgbClr val="212121"/>
                </a:solidFill>
              </a:rPr>
              <a:t>3.   Pipeline K-Means — geração do pool de regras</a:t>
            </a:r>
          </a:p>
          <a:p>
            <a:pPr algn="l">
              <a:spcBef>
                <a:spcPts val="700"/>
              </a:spcBef>
            </a:pPr>
            <a:r>
              <a:rPr sz="1700">
                <a:solidFill>
                  <a:srgbClr val="212121"/>
                </a:solidFill>
              </a:rPr>
              <a:t>4.   Métricas de Avaliação</a:t>
            </a:r>
          </a:p>
          <a:p>
            <a:pPr algn="l">
              <a:spcBef>
                <a:spcPts val="700"/>
              </a:spcBef>
            </a:pPr>
            <a:r>
              <a:rPr sz="1700">
                <a:solidFill>
                  <a:srgbClr val="212121"/>
                </a:solidFill>
              </a:rPr>
              <a:t>5.   MFs de Saída — conversão TS → rótulo linguístico</a:t>
            </a:r>
          </a:p>
          <a:p>
            <a:pPr algn="l">
              <a:spcBef>
                <a:spcPts val="700"/>
              </a:spcBef>
            </a:pPr>
            <a:r>
              <a:rPr sz="1700">
                <a:solidFill>
                  <a:srgbClr val="212121"/>
                </a:solidFill>
              </a:rPr>
              <a:t>6.   Resultados: desempenho, MFs aprendidas e regras extraídas</a:t>
            </a:r>
          </a:p>
          <a:p>
            <a:pPr algn="l">
              <a:spcBef>
                <a:spcPts val="700"/>
              </a:spcBef>
            </a:pPr>
            <a:r>
              <a:rPr sz="1700">
                <a:solidFill>
                  <a:srgbClr val="212121"/>
                </a:solidFill>
              </a:rPr>
              <a:t>7.   Análise Comparativa ANFIS × MLP</a:t>
            </a:r>
          </a:p>
          <a:p>
            <a:pPr algn="l">
              <a:spcBef>
                <a:spcPts val="700"/>
              </a:spcBef>
            </a:pPr>
            <a:r>
              <a:rPr sz="1700">
                <a:solidFill>
                  <a:srgbClr val="212121"/>
                </a:solidFill>
              </a:rPr>
              <a:t>8.   Conclusões e Trabalho Futuro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Arquitetura ANFIS — Camada a Camada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143000"/>
            <a:ext cx="2286000" cy="502920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Entrada  [B, 11]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1216152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56B72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578608" y="1143000"/>
            <a:ext cx="228600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MixedFuzzyLayer
[B,11,M]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8" y="1216152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56B72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74336" y="1143000"/>
            <a:ext cx="2286000" cy="5029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ClusterRuleLayer
[B, R]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0336" y="1216152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56B72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70064" y="1143000"/>
            <a:ext cx="228600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DefuzzyLayer
[B, 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6064" y="1216152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56B72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765792" y="1143000"/>
            <a:ext cx="2286000" cy="502920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Sigmoid → P(d)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783080"/>
            <a:ext cx="36576" cy="47091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1783080"/>
            <a:ext cx="3749039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MixedFuzzyLayer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Numéricas → MFs Gaussianas treináveis: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μ(x) = exp(−½·((x−c)/σ)²)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c, σ ajustados por backprop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Categóricas → one-hot suavizado: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out[cat correta] = 0,95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out[demais] = 0,05/(n−1)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Exemplos: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ChestPainType: ASY→3, ATA→0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ExerciseAngina: N→0, Y→1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ST_Slope: Down→0, Flat→1, Up→2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1783080"/>
            <a:ext cx="36576" cy="47091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1783080"/>
            <a:ext cx="3749039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ClusterRuleLayer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T-norma produto (diferenciável):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w_k = ∏ᵢ μᵢ,combo[k,i](xᵢ)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combo[k,i] = índice da MF da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regra k na feature i (K-Means)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Normalização: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w̃_k = w_k / (Σⱼ wⱼ + ε)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Sem parâmetros treináveis.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rule_idx como register_buffer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1783080"/>
            <a:ext cx="36576" cy="47091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1783080"/>
            <a:ext cx="3749039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DefuzzyLayer  +  Loss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Takagi-Sugeno (ordem 0):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ŷ = Σ_k w̃_k · c_k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c_k ∈ nn.Linear(R→1)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Loss = BCE + λ · penalidade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BCE(σ(ŷ), y)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λ·Σᵢ&lt;ⱼ relu(σᵢ+σⱼ−|cᵢ−cⱼ|)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Penaliza MFs sobrepostas.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Se |cᵢ−cⱼ| &lt; σᵢ+σⱼ: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MF j cabe dentro de MF i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→ partição incoerente  (λ=0,1)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Dataset e Configuração Experimental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502920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Heart Failure Prediction Dataset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▸  918 pacientes adultos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▸  Variável alvo: HeartDisease (0/1)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▸  Prevalência: ~55% positivos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▸  Split: 80% treino / 20% teste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Features numéricas (5):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   Age, RestingBP, Cholesterol, MaxHR, Oldpeak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Features categóricas (6):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   Sex, ChestPainType, FastingBS,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   RestingECG, ExerciseAngina, ST_Slope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Pré-processamento: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   PartialScaler: z-score só nas numéricas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   Categóricas mantêm código inteiro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1143000"/>
            <a:ext cx="6217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3F6E"/>
                </a:solidFill>
              </a:rPr>
              <a:t>Exemplo de registros no dataset: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0" y="1554480"/>
            <a:ext cx="726948" cy="3931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23076" y="1554480"/>
            <a:ext cx="726948" cy="3931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Sex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68312" y="1554480"/>
            <a:ext cx="726948" cy="3931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ChestPain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13548" y="1554480"/>
            <a:ext cx="726948" cy="3931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MaxHR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58784" y="1554480"/>
            <a:ext cx="726948" cy="3931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ExAngina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04020" y="1554480"/>
            <a:ext cx="726948" cy="3931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Oldpeak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9256" y="1554480"/>
            <a:ext cx="726948" cy="3931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794492" y="1554480"/>
            <a:ext cx="726948" cy="3931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HD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77840" y="1947672"/>
            <a:ext cx="726948" cy="37490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40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3076" y="1947672"/>
            <a:ext cx="726948" cy="37490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68312" y="1947672"/>
            <a:ext cx="726948" cy="37490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ATA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13548" y="1947672"/>
            <a:ext cx="726948" cy="37490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172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58784" y="1947672"/>
            <a:ext cx="726948" cy="37490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04020" y="1947672"/>
            <a:ext cx="726948" cy="37490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0.0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1947672"/>
            <a:ext cx="726948" cy="37490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Up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794492" y="1947672"/>
            <a:ext cx="726948" cy="37490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77840" y="2340864"/>
            <a:ext cx="7269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49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23076" y="2340864"/>
            <a:ext cx="7269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68312" y="2340864"/>
            <a:ext cx="7269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NAP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13548" y="2340864"/>
            <a:ext cx="7269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156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58784" y="2340864"/>
            <a:ext cx="7269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04020" y="2340864"/>
            <a:ext cx="7269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1.0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2340864"/>
            <a:ext cx="7269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Flat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794492" y="2340864"/>
            <a:ext cx="7269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77840" y="2734056"/>
            <a:ext cx="726948" cy="37490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37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23076" y="2734056"/>
            <a:ext cx="726948" cy="37490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68312" y="2734056"/>
            <a:ext cx="726948" cy="37490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ATA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13548" y="2734056"/>
            <a:ext cx="726948" cy="37490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 98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558784" y="2734056"/>
            <a:ext cx="726948" cy="37490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04020" y="2734056"/>
            <a:ext cx="726948" cy="37490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0.0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49256" y="2734056"/>
            <a:ext cx="726948" cy="37490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Up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794492" y="2734056"/>
            <a:ext cx="726948" cy="37490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77840" y="3127248"/>
            <a:ext cx="7269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48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23076" y="3127248"/>
            <a:ext cx="7269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F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68312" y="3127248"/>
            <a:ext cx="7269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ASY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13548" y="3127248"/>
            <a:ext cx="7269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108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58784" y="3127248"/>
            <a:ext cx="7269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04020" y="3127248"/>
            <a:ext cx="7269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1.5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049256" y="3127248"/>
            <a:ext cx="7269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Flat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794492" y="3127248"/>
            <a:ext cx="7269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77840" y="356616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6B72"/>
                </a:solidFill>
              </a:rPr>
              <a:t>HD = HeartDisease (variável alvo)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77840" y="3977640"/>
            <a:ext cx="6217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>Configuração: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>   NUM_MFS=3  |  EPOCHS=200  |  lr=1e-3  |  batch=32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>   ANFIS: 200 clusters K-Means  |  MLP: [64, 32]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Geração do Pool de Regras via K-Means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11365992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>
                <a:solidFill>
                  <a:srgbClr val="212121"/>
                </a:solidFill>
              </a:rPr>
              <a:t>⚠  A fuzzificação percentílica abaixo é um ARTIFÍCIO de mapeamento — não são as MFs do ANFIS. Servem exclusivamente para converter centros de clusters em índices discretos e selecionar quais combinações de antecedentes entram no pool de regras.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874520"/>
            <a:ext cx="11365992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>1.  Picos por percentil  (artifício de simplificação):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>      pcts = [25%, 50%, 75%]  →  peaks[fi] = percentis da distribuição de treino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>      Generalização que converte o espaço contínuo em labels baixo/médio/alto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>2.  K-Means (200 clusters) particiona o espaço de entrada: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>      Sem supervisão — agrupa por proximidade nas features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>3.  Mapeamento dominante por cluster: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>      Numérica:   argmax μ_triangular(centro_k, pico_j)  →  índice 0, 1, 2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>      Categórica: round(centro_k)                        →  código inteiro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>4.  Deduplicação: clusters com mesmo vetor de labels → uma regra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>      200 clusters → ~197 combos únicos nesta execução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>5.  Centros Gaussianos do ANFIS inicializados nos percentis dos centros K-Means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>      Treino end-to-end refina c, σ e c_k independentemente deste mapeamento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Métricas de Avaliação Utilizadas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365760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AUC-ROC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673352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Área sob a curva ROC.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Mede separação das classes independentemente do limiar.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AUC=1,0 → perfeito  |  AUC=0,5 → aleatório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143000"/>
            <a:ext cx="3657600" cy="475488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Acurácia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673352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Proporção de predições corretas.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  Acurácia = (VP + VN) / N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Sensível ao desbalanceamento de classes.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80" y="1143000"/>
            <a:ext cx="3657600" cy="475488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F1-Score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80" y="1673352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Média harmônica entre Precisão e Revocação.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  F1 = 2·(P·R) / (P+R)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Preferível quando as classes são desbalanceadas.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160520"/>
            <a:ext cx="11365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6B72"/>
                </a:solidFill>
              </a:rPr>
              <a:t>Limiar de decisão: 0,5  |  Testado no conjunto de teste (20% dos dados)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MFs de Saída — Conversão do Resultado TS em Rótulo Linguístico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640080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O problema: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   DefuzzyLayer produz ŷ ∈ ℝ  →  sigmoid  →  P(doença) ∈ [0,1].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   Regras Takagi-Sugeno não têm consequente linguístico, apenas um número c_k.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   Para transcrever "SE ... ENTÃO risco = ALTO" precisamos mapear ŷ a um label.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A solução (definição analítica manual):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   5 MFs triangulares uniformemente espaçadas em [0, 1]: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   centros  c = [1/6, 2/6, 3/6, 4/6, 5/6]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   meia-largura  hw = 1/6  →  partição exata, sem sobreposição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   μⱼ(ŷ) = max(0,  1 − |ŷ − cⱼ| / hw)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   rótulo(ŷ) = argmaxⱼ μⱼ(ŷ)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   Labels: baixo | baixo_médio | médio | médio_alto | alto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   Ex.: ŷ = 0,78  →  μ₄(alto) = 0,68  →  risco = alto</a:t>
            </a:r>
          </a:p>
        </p:txBody>
      </p:sp>
      <p:pic>
        <p:nvPicPr>
          <p:cNvPr id="8" name="Picture 7" descr="mfs_anf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143000"/>
            <a:ext cx="5303520" cy="5212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0" y="63093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6B72"/>
                </a:solidFill>
              </a:rPr>
              <a:t>↑ painel "Output — risco" (inferior direito)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Resultados: Métricas de Desempenho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1984248" cy="685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Modelo</a:t>
            </a:r>
          </a:p>
        </p:txBody>
      </p:sp>
      <p:sp>
        <p:nvSpPr>
          <p:cNvPr id="8" name="Rectangle 7"/>
          <p:cNvSpPr/>
          <p:nvPr/>
        </p:nvSpPr>
        <p:spPr>
          <a:xfrm>
            <a:off x="2468880" y="1143000"/>
            <a:ext cx="1709928" cy="685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Parâmetros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143000"/>
            <a:ext cx="1709928" cy="685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Treino (s)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143000"/>
            <a:ext cx="1847087" cy="685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Acurácia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143000"/>
            <a:ext cx="1847087" cy="685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F1-Score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875520" y="1143000"/>
            <a:ext cx="1847087" cy="685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AUC-ROC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856232"/>
            <a:ext cx="1984248" cy="685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212121"/>
                </a:solidFill>
              </a:rPr>
              <a:t>ANFIS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68880" y="1856232"/>
            <a:ext cx="1709928" cy="685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212121"/>
                </a:solidFill>
              </a:rPr>
              <a:t>228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1856232"/>
            <a:ext cx="1709928" cy="685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212121"/>
                </a:solidFill>
              </a:rPr>
              <a:t>14,9 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1856232"/>
            <a:ext cx="1847087" cy="685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212121"/>
                </a:solidFill>
              </a:rPr>
              <a:t>84,2 %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1856232"/>
            <a:ext cx="1847087" cy="685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212121"/>
                </a:solidFill>
              </a:rPr>
              <a:t>85,9 %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75520" y="1856232"/>
            <a:ext cx="1847087" cy="685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212121"/>
                </a:solidFill>
              </a:rPr>
              <a:t>0,912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569464"/>
            <a:ext cx="1984248" cy="685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212121"/>
                </a:solidFill>
              </a:rPr>
              <a:t>MLP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68880" y="2569464"/>
            <a:ext cx="1709928" cy="685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212121"/>
                </a:solidFill>
              </a:rPr>
              <a:t>2.881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2569464"/>
            <a:ext cx="1709928" cy="685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212121"/>
                </a:solidFill>
              </a:rPr>
              <a:t>4,8 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2569464"/>
            <a:ext cx="1847087" cy="685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212121"/>
                </a:solidFill>
              </a:rPr>
              <a:t>81,5 %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2569464"/>
            <a:ext cx="1847087" cy="685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212121"/>
                </a:solidFill>
              </a:rPr>
              <a:t>82,5 %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75520" y="2569464"/>
            <a:ext cx="1847087" cy="685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212121"/>
                </a:solidFill>
              </a:rPr>
              <a:t>0,901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3474720"/>
            <a:ext cx="1136599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500">
                <a:solidFill>
                  <a:srgbClr val="212121"/>
                </a:solidFill>
              </a:rPr>
              <a:t>▸  ANFIS supera o MLP em todas as métricas nesta execução</a:t>
            </a:r>
          </a:p>
          <a:p>
            <a:pPr algn="l">
              <a:spcBef>
                <a:spcPts val="600"/>
              </a:spcBef>
            </a:pPr>
            <a:r>
              <a:rPr sz="1500">
                <a:solidFill>
                  <a:srgbClr val="212121"/>
                </a:solidFill>
              </a:rPr>
              <a:t>▸  13× menos parâmetros (228 vs 2.881)</a:t>
            </a:r>
          </a:p>
          <a:p>
            <a:pPr algn="l">
              <a:spcBef>
                <a:spcPts val="600"/>
              </a:spcBef>
            </a:pPr>
            <a:r>
              <a:rPr sz="1500">
                <a:solidFill>
                  <a:srgbClr val="212121"/>
                </a:solidFill>
              </a:rPr>
              <a:t>▸  ANFIS ~3× mais lento para treinar — aceitável em produção offline</a:t>
            </a:r>
          </a:p>
          <a:p>
            <a:pPr algn="l">
              <a:spcBef>
                <a:spcPts val="600"/>
              </a:spcBef>
            </a:pPr>
            <a:r>
              <a:rPr sz="1500">
                <a:solidFill>
                  <a:srgbClr val="212121"/>
                </a:solidFill>
              </a:rPr>
              <a:t>▸  MLP não oferece nenhuma explicação sobre suas predições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Funções de Pertinência Gaussianas Aprendidas (pós-treinamento)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pic>
        <p:nvPicPr>
          <p:cNvPr id="7" name="Picture 6" descr="mfs_anf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43000"/>
            <a:ext cx="11365992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Regras Linguísticas Extraídas — Top-10 por Força de Disparo Média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1005840" cy="40782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R1 BAIXO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188720"/>
            <a:ext cx="10268712" cy="43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Age=jovem, Sex=M, CPT=ATA, RBP=normal, Chol=alto,  FBS=0, ECG=Normal, MaxHR=alta,  Ang=N, OP=normal,  ST=Up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578254"/>
            <a:ext cx="1005840" cy="40782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R2 ALTO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623974"/>
            <a:ext cx="10268712" cy="43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Age=jovem, Sex=M, CPT=ASY, RBP=normal, Chol=desej, FBS=0, ECG=Normal, MaxHR=baixa, Ang=Y, OP=elevado, ST=Flat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3508"/>
            <a:ext cx="1005840" cy="40782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R3 ALTO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59228"/>
            <a:ext cx="10268712" cy="43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Age=idoso, Sex=M, CPT=ASY, RBP=normal, Chol=alto,  FBS=0, ECG=ST,     MaxHR=baixa, Ang=Y, OP=elevado, ST=Flat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448762"/>
            <a:ext cx="1005840" cy="40782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R4 BAIXO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494482"/>
            <a:ext cx="10268712" cy="43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Age=jovem, Sex=M, CPT=ATA, RBP=elevado,Chol=desej, FBS=0, ECG=Normal, MaxHR=baixa, Ang=N, OP=normal,  ST=Up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884016"/>
            <a:ext cx="1005840" cy="40782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R5 BAIXO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929736"/>
            <a:ext cx="10268712" cy="43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Age=jovem, Sex=M, CPT=ATA, RBP=otimo,  Chol=desej, FBS=0, ECG=Normal, MaxHR=baixa, Ang=N, OP=normal,  ST=Up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19270"/>
            <a:ext cx="1005840" cy="40782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R6 BAIXO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364990"/>
            <a:ext cx="10268712" cy="43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Age=jovem, Sex=F, CPT=ATA, RBP=otimo,  Chol=alto,  FBS=0, ECG=Normal, MaxHR=baixa, Ang=N, OP=normal,  ST=Up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754524"/>
            <a:ext cx="1005840" cy="40782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R7 ALTO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800244"/>
            <a:ext cx="10268712" cy="43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Age=idoso, Sex=M, CPT=ASY, RBP=normal, Chol=desej, FBS=0, ECG=LVH,    MaxHR=baixa, Ang=Y, OP=elevado, ST=Flat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189778"/>
            <a:ext cx="1005840" cy="40782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R8 BAIXO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235498"/>
            <a:ext cx="10268712" cy="43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Age=jovem, Sex=M, CPT=NAP, RBP=normal, Chol=desej, FBS=0, ECG=Normal, MaxHR=alta,  Ang=N, OP=normal,  ST=Up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625032"/>
            <a:ext cx="1005840" cy="40782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R9 ALTO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670752"/>
            <a:ext cx="10268712" cy="43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Age=jovem, Sex=M, CPT=ASY, RBP=otimo,  Chol=desej, FBS=1, ECG=Normal, MaxHR=baixa, Ang=N, OP=normal,  ST=Flat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060286"/>
            <a:ext cx="1005840" cy="40782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R10 ALTO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" y="5106006"/>
            <a:ext cx="10268712" cy="43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Age=jovem, Sex=M, CPT=ASY, RBP=elevado,Chol=desej, FBS=0, ECG=Normal, MaxHR=baixa, Ang=Y, OP=elevado, ST=Flat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Comparação de Risco: ANFIS vs MLP (Conjunto de Teste)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pic>
        <p:nvPicPr>
          <p:cNvPr id="7" name="Picture 6" descr="risk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43000"/>
            <a:ext cx="11365992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Análise: ANFIS como Alternativa Interpretável ao MLP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11365992" cy="6400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rgbClr val="2E7D32"/>
                </a:solidFill>
              </a:rPr>
              <a:t>ANFIS supera o MLP em todas as métricas com 13× menos parâmetros e produz regras linguísticas auditáveis.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874520"/>
            <a:ext cx="11365992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Eficiência paramétrica: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   228 vs 2.881 parâmetros — centros e variâncias têm interpretação direta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   Cada c_k aprendido representa a "opinião" daquela regra sobre o risco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Interpretabilidade genuína: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   ST_Slope=Flat + ExerciseAngina=Y + Oldpeak=elevado → padrão recorrente de alto risco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   Compatível com literatura médica sobre isquemia cardíaca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Tradeoff velocidade: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   ANFIS: 14,9 s  vs  MLP: 4,8 s — diferença aceitável em produção offline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Pontos de Atenção e Limitações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1365992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1.  Explosão de regras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      n_regras ∝ num_mfs^n_inputs — inviável sem seleção/deduplicação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      Solução: K-Means como filtro + deduplicação por combo de MFs dominantes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2.  Features categóricas em sistemas fuzzy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      Não existe grau de pertinência natural entre categorias discretas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      MixedFuzzyLayer usa one-hot suavizado:  μ=0,95 (certa) / 0,05/(n−1) (demais)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3.  Sensibilidade à inicialização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      K-Means determinístico (semente fixa) — pool de regras pode variar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      Penalidade de separação mitiga colapso de MFs durante treinamento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4.  Testado em um único dataset (n=918)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      Generalização para outros domínios requer validação adicional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Conclusões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1365992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600">
                <a:solidFill>
                  <a:srgbClr val="212121"/>
                </a:solidFill>
              </a:rPr>
              <a:t>✅  ANFIS supera o MLP em acurácia, F1 e AUC nesta execução</a:t>
            </a:r>
          </a:p>
          <a:p>
            <a:pPr algn="l">
              <a:spcBef>
                <a:spcPts val="700"/>
              </a:spcBef>
            </a:pPr>
            <a:r>
              <a:rPr sz="1600">
                <a:solidFill>
                  <a:srgbClr val="212121"/>
                </a:solidFill>
              </a:rPr>
              <a:t>✅  228 parâmetros treináveis vs 2.881 do MLP  (13× mais eficiente)</a:t>
            </a:r>
          </a:p>
          <a:p>
            <a:pPr algn="l">
              <a:spcBef>
                <a:spcPts val="700"/>
              </a:spcBef>
            </a:pPr>
            <a:r>
              <a:rPr sz="1600">
                <a:solidFill>
                  <a:srgbClr val="212121"/>
                </a:solidFill>
              </a:rPr>
              <a:t>✅  Regras linguísticas auditáveis revelam os padrões clínicos aprendidos</a:t>
            </a:r>
          </a:p>
          <a:p>
            <a:pPr algn="l">
              <a:spcBef>
                <a:spcPts val="700"/>
              </a:spcBef>
            </a:pPr>
            <a:r>
              <a:rPr sz="1600">
                <a:solidFill>
                  <a:srgbClr val="212121"/>
                </a:solidFill>
              </a:rPr>
              <a:t>✅  Pipeline reproduzível: K-Means → inicialização → treino end-to-end</a:t>
            </a:r>
          </a:p>
          <a:p>
            <a:pPr algn="l">
              <a:spcBef>
                <a:spcPts val="700"/>
              </a:spcBef>
            </a:pPr>
            <a:r>
              <a:rPr sz="1600">
                <a:solidFill>
                  <a:srgbClr val="212121"/>
                </a:solidFill>
              </a:rPr>
              <a:t>✅  Penalidade de separação garante MFs linguisticamente coerentes</a:t>
            </a:r>
          </a:p>
          <a:p>
            <a:pPr algn="l">
              <a:spcBef>
                <a:spcPts val="700"/>
              </a:spcBef>
            </a:pPr>
            <a:r>
              <a:rPr sz="1600">
                <a:solidFill>
                  <a:srgbClr val="212121"/>
                </a:solidFill>
              </a:rPr>
              <a:t/>
            </a:r>
          </a:p>
          <a:p>
            <a:pPr algn="l">
              <a:spcBef>
                <a:spcPts val="700"/>
              </a:spcBef>
            </a:pPr>
            <a:r>
              <a:rPr sz="1600">
                <a:solidFill>
                  <a:srgbClr val="212121"/>
                </a:solidFill>
              </a:rPr>
              <a:t>→  ANFIS é uma alternativa viável quando interpretabilidade é requisito,</a:t>
            </a:r>
          </a:p>
          <a:p>
            <a:pPr algn="l">
              <a:spcBef>
                <a:spcPts val="700"/>
              </a:spcBef>
            </a:pPr>
            <a:r>
              <a:rPr sz="1600">
                <a:solidFill>
                  <a:srgbClr val="212121"/>
                </a:solidFill>
              </a:rPr>
              <a:t>    sem sacrifício — e neste caso com ganho — de desempenho preditivo.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Limitações e Trabalho Futuro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3F6E"/>
                </a:solidFill>
              </a:rPr>
              <a:t>Limitações atuais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527048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• Testado em único dataset (n=918)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• Categóricas sem MFs formalmente definidas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• Pool de regras depende da semente K-Means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• Treinamento ~3× mais lento que MLP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79476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3F6E"/>
                </a:solidFill>
              </a:rPr>
              <a:t>Próximos passos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20624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• Validar em datasets maiores e multi-classe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• Incorporar conhecimento de especialistas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  na inicialização das MFs Gaussianas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• Comparar com XGBoost + SHAP como baseline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• Interface de extração em linguagem natural</a:t>
            </a:r>
          </a:p>
        </p:txBody>
      </p:sp>
      <p:pic>
        <p:nvPicPr>
          <p:cNvPr id="11" name="Picture 10" descr="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143000"/>
            <a:ext cx="5852160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2194560"/>
            <a:ext cx="12188952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2377440"/>
            <a:ext cx="1136599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212121"/>
                </a:solidFill>
              </a:rPr>
              <a:t>Obrigado!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749039"/>
            <a:ext cx="113659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6B72"/>
                </a:solidFill>
              </a:rPr>
              <a:t>victor.m.bertini@gmail.com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51960"/>
            <a:ext cx="113659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56B72"/>
                </a:solidFill>
              </a:rPr>
              <a:t>github.com/vm-bertini/Fuzzy-Projeto-Final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029200"/>
            <a:ext cx="113659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E7D32"/>
                </a:solidFill>
              </a:rPr>
              <a:t>"ANFIS: interpretabilidade sem sacrificar performance"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Apêndice A — Heatmap das Regras ANFIS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pic>
        <p:nvPicPr>
          <p:cNvPr id="7" name="Picture 6" descr="rule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43000"/>
            <a:ext cx="11365992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Apêndice B — Partição K-Means (pré-ANFIS)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pic>
        <p:nvPicPr>
          <p:cNvPr id="7" name="Picture 6" descr="mfs_kmea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43000"/>
            <a:ext cx="11365992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Apêndice C — Glossário das Features do Dataset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1801368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0280" y="1143000"/>
            <a:ext cx="1252728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Tipo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143000"/>
            <a:ext cx="8567928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Descrição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508760"/>
            <a:ext cx="180136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1">
                <a:solidFill>
                  <a:srgbClr val="212121"/>
                </a:solidFill>
              </a:rPr>
              <a:t>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40280" y="1508760"/>
            <a:ext cx="125272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12121"/>
                </a:solidFill>
              </a:rPr>
              <a:t>Numérica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0440" y="1508760"/>
            <a:ext cx="856792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12121"/>
                </a:solidFill>
              </a:rPr>
              <a:t>Idade do paciente (anos)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933956"/>
            <a:ext cx="1801368" cy="4069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1">
                <a:solidFill>
                  <a:srgbClr val="212121"/>
                </a:solidFill>
              </a:rPr>
              <a:t>Sex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40280" y="1933956"/>
            <a:ext cx="1252728" cy="4069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12121"/>
                </a:solidFill>
              </a:rPr>
              <a:t>Categórica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40" y="1933956"/>
            <a:ext cx="8567928" cy="4069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12121"/>
                </a:solidFill>
              </a:rPr>
              <a:t>Sexo biológico: M = masculino, F = feminino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359152"/>
            <a:ext cx="180136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1">
                <a:solidFill>
                  <a:srgbClr val="212121"/>
                </a:solidFill>
              </a:rPr>
              <a:t>ChestPainType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40280" y="2359152"/>
            <a:ext cx="125272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12121"/>
                </a:solidFill>
              </a:rPr>
              <a:t>Categórica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20440" y="2359152"/>
            <a:ext cx="856792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12121"/>
                </a:solidFill>
              </a:rPr>
              <a:t>Tipo de dor torácica: ATA = dor atípica, NAP = dor não-anginosa, ASY = assintomático, TA = angina típica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784348"/>
            <a:ext cx="1801368" cy="4069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1">
                <a:solidFill>
                  <a:srgbClr val="212121"/>
                </a:solidFill>
              </a:rPr>
              <a:t>RestingBP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40280" y="2784348"/>
            <a:ext cx="1252728" cy="4069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12121"/>
                </a:solidFill>
              </a:rPr>
              <a:t>Numérica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20440" y="2784348"/>
            <a:ext cx="8567928" cy="4069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12121"/>
                </a:solidFill>
              </a:rPr>
              <a:t>Pressão arterial em repouso (mmHg); valores 0 substituídos pela mediana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209544"/>
            <a:ext cx="180136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1">
                <a:solidFill>
                  <a:srgbClr val="212121"/>
                </a:solidFill>
              </a:rPr>
              <a:t>Cholesterol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40280" y="3209544"/>
            <a:ext cx="125272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12121"/>
                </a:solidFill>
              </a:rPr>
              <a:t>Numérica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20440" y="3209544"/>
            <a:ext cx="856792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12121"/>
                </a:solidFill>
              </a:rPr>
              <a:t>Colesterol sérico (mg/dL); valores 0 substituídos pela mediana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634740"/>
            <a:ext cx="1801368" cy="4069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1">
                <a:solidFill>
                  <a:srgbClr val="212121"/>
                </a:solidFill>
              </a:rPr>
              <a:t>FastingBS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40280" y="3634740"/>
            <a:ext cx="1252728" cy="4069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12121"/>
                </a:solidFill>
              </a:rPr>
              <a:t>Categórica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20440" y="3634740"/>
            <a:ext cx="8567928" cy="4069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12121"/>
                </a:solidFill>
              </a:rPr>
              <a:t>Glicemia em jejum: 1 = glicemia &gt; 120 mg/dL (possível diabetes), 0 = normal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4059936"/>
            <a:ext cx="180136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1">
                <a:solidFill>
                  <a:srgbClr val="212121"/>
                </a:solidFill>
              </a:rPr>
              <a:t>RestingECG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40280" y="4059936"/>
            <a:ext cx="125272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12121"/>
                </a:solidFill>
              </a:rPr>
              <a:t>Categórica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20440" y="4059936"/>
            <a:ext cx="856792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12121"/>
                </a:solidFill>
              </a:rPr>
              <a:t>Resultado do ECG em repouso: Normal, ST = anormalidade onda ST-T, LVH = hipertrofia ventricular esquerda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485132"/>
            <a:ext cx="1801368" cy="4069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1">
                <a:solidFill>
                  <a:srgbClr val="212121"/>
                </a:solidFill>
              </a:rPr>
              <a:t>MaxHR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40280" y="4485132"/>
            <a:ext cx="1252728" cy="4069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12121"/>
                </a:solidFill>
              </a:rPr>
              <a:t>Numérica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20440" y="4485132"/>
            <a:ext cx="8567928" cy="4069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12121"/>
                </a:solidFill>
              </a:rPr>
              <a:t>Frequência cardíaca máxima atingida durante teste de esforço (bpm)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4910328"/>
            <a:ext cx="180136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1">
                <a:solidFill>
                  <a:srgbClr val="212121"/>
                </a:solidFill>
              </a:rPr>
              <a:t>ExerciseAngina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40280" y="4910328"/>
            <a:ext cx="125272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12121"/>
                </a:solidFill>
              </a:rPr>
              <a:t>Categórica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20440" y="4910328"/>
            <a:ext cx="856792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12121"/>
                </a:solidFill>
              </a:rPr>
              <a:t>Angina induzida por exercício: Y = sim, N = não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335524"/>
            <a:ext cx="1801368" cy="4069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1">
                <a:solidFill>
                  <a:srgbClr val="212121"/>
                </a:solidFill>
              </a:rPr>
              <a:t>Oldpeak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40280" y="5335524"/>
            <a:ext cx="1252728" cy="4069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12121"/>
                </a:solidFill>
              </a:rPr>
              <a:t>Numérica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20440" y="5335524"/>
            <a:ext cx="8567928" cy="4069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12121"/>
                </a:solidFill>
              </a:rPr>
              <a:t>Depressão do segmento ST induzida por exercício em relação ao repouso (mm)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5760720"/>
            <a:ext cx="180136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1">
                <a:solidFill>
                  <a:srgbClr val="212121"/>
                </a:solidFill>
              </a:rPr>
              <a:t>ST_Slope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40280" y="5760720"/>
            <a:ext cx="125272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12121"/>
                </a:solidFill>
              </a:rPr>
              <a:t>Categórica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20440" y="5760720"/>
            <a:ext cx="856792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12121"/>
                </a:solidFill>
              </a:rPr>
              <a:t>Inclinação do segmento ST no pico do exercício: Up = ascendente (saudável), Flat = plano, Down = descendente (risco)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