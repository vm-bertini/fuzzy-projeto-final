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Bertini" userId="d993313d02d6d422" providerId="LiveId" clId="{458F1784-843B-461A-817F-C38F0F172C58}"/>
    <pc:docChg chg="modSld">
      <pc:chgData name="Victor Bertini" userId="d993313d02d6d422" providerId="LiveId" clId="{458F1784-843B-461A-817F-C38F0F172C58}" dt="2026-06-23T07:11:27.055" v="4" actId="1076"/>
      <pc:docMkLst>
        <pc:docMk/>
      </pc:docMkLst>
      <pc:sldChg chg="modSp mod">
        <pc:chgData name="Victor Bertini" userId="d993313d02d6d422" providerId="LiveId" clId="{458F1784-843B-461A-817F-C38F0F172C58}" dt="2026-06-23T07:11:27.055" v="4" actId="1076"/>
        <pc:sldMkLst>
          <pc:docMk/>
          <pc:sldMk cId="0" sldId="264"/>
        </pc:sldMkLst>
        <pc:spChg chg="mod">
          <ac:chgData name="Victor Bertini" userId="d993313d02d6d422" providerId="LiveId" clId="{458F1784-843B-461A-817F-C38F0F172C58}" dt="2026-06-23T07:11:27.055" v="4" actId="1076"/>
          <ac:spMkLst>
            <pc:docMk/>
            <pc:sldMk cId="0" sldId="264"/>
            <ac:spMk id="7" creationId="{00000000-0000-0000-0000-000000000000}"/>
          </ac:spMkLst>
        </pc:spChg>
        <pc:picChg chg="mod">
          <ac:chgData name="Victor Bertini" userId="d993313d02d6d422" providerId="LiveId" clId="{458F1784-843B-461A-817F-C38F0F172C58}" dt="2026-06-23T07:11:18.981" v="1" actId="14100"/>
          <ac:picMkLst>
            <pc:docMk/>
            <pc:sldMk cId="0" sldId="264"/>
            <ac:picMk id="8" creationId="{00000000-0000-0000-0000-000000000000}"/>
          </ac:picMkLst>
        </pc:picChg>
      </pc:sldChg>
      <pc:sldChg chg="modSp mod">
        <pc:chgData name="Victor Bertini" userId="d993313d02d6d422" providerId="LiveId" clId="{458F1784-843B-461A-817F-C38F0F172C58}" dt="2026-06-23T07:10:03.305" v="0" actId="14100"/>
        <pc:sldMkLst>
          <pc:docMk/>
          <pc:sldMk cId="0" sldId="272"/>
        </pc:sldMkLst>
        <pc:picChg chg="mod">
          <ac:chgData name="Victor Bertini" userId="d993313d02d6d422" providerId="LiveId" clId="{458F1784-843B-461A-817F-C38F0F172C58}" dt="2026-06-23T07:10:03.305" v="0" actId="14100"/>
          <ac:picMkLst>
            <pc:docMk/>
            <pc:sldMk cId="0" sldId="272"/>
            <ac:picMk id="11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03120"/>
            <a:ext cx="121889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1365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12121"/>
                </a:solidFill>
              </a:rPr>
              <a:t>Sistemas Neuro-Fuzzy para Classificação de Risco Cardíaco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61188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6B72"/>
                </a:solidFill>
              </a:rPr>
              <a:t>Comparação entre ANFIS e MLP: Acurácia vs Interpretabilidade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25780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B72"/>
                </a:solidFill>
              </a:rPr>
              <a:t>Victor M. Bertini   |   FEEC / Unicamp   |   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Motivação: O Custo da Caixa-Preta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6599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12121"/>
                </a:solidFill>
              </a:rPr>
              <a:t>▸  Modelos de ML atingem alta acurácia em diagnóstico cardíaco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12121"/>
                </a:solidFill>
              </a:rPr>
              <a:t>▸  Médicos precisam ENTENDER a decisão — não apenas confiar nela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12121"/>
                </a:solidFill>
              </a:rPr>
              <a:t>▸  "Por que este paciente foi classificado como alto risco?"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12121"/>
                </a:solidFill>
              </a:rPr>
              <a:t>▸  Regulações clínicas exigem rastreabilidade das decisões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12121"/>
                </a:solidFill>
              </a:rPr>
              <a:t>▸  Redes neurais tradicionais (MLP) não fornecem nenhuma explicação</a:t>
            </a:r>
          </a:p>
          <a:p>
            <a:pPr algn="l">
              <a:spcBef>
                <a:spcPts val="300"/>
              </a:spcBef>
            </a:pPr>
            <a:endParaRPr sz="16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12121"/>
                </a:solidFill>
              </a:rPr>
              <a:t>→  Pergunta central: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12121"/>
                </a:solidFill>
              </a:rPr>
              <a:t>    É possível ter desempenho comparável ao MLP com interpretabilidade linguística?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 Lacuna: Acurácia vs Interpretabilidade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5394960" cy="50292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F6E"/>
                </a:solidFill>
              </a:rPr>
              <a:t>MLP  —  Caixa-Preta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✓  Alta acurácia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✓  Treinamento rápido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✗  Zero interpretabilidade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✗  Nenhuma regra auditável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✗  Inaceitável em contextos regulados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337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6B72"/>
                </a:solidFill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143000"/>
            <a:ext cx="5394960" cy="50292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ANFIS  —  Neuro-Fuzzy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✓  Acurácia comparável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✓  Regras linguísticas auditáveis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✓  Parâmetros com significado físico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✓  13× menos parâmetros que MLP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~  Treinamento ligeiramente mais lento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Apresentação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6599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700">
                <a:solidFill>
                  <a:srgbClr val="212121"/>
                </a:solidFill>
              </a:rPr>
              <a:t>1.   Arquitetura ANFIS — camada a camada com equações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212121"/>
                </a:solidFill>
              </a:rPr>
              <a:t>2.   Dataset e Configuração Experimental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212121"/>
                </a:solidFill>
              </a:rPr>
              <a:t>3.   Pipeline K-Means — geração do pool de regras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212121"/>
                </a:solidFill>
              </a:rPr>
              <a:t>4.   Métricas de Avaliação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212121"/>
                </a:solidFill>
              </a:rPr>
              <a:t>5.   MFs de Saída — conversão TS → rótulo linguístico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212121"/>
                </a:solidFill>
              </a:rPr>
              <a:t>6.   Resultados: desempenho, MFs aprendidas e regras extraídas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212121"/>
                </a:solidFill>
              </a:rPr>
              <a:t>7.   Análise Comparativa ANFIS × MLP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212121"/>
                </a:solidFill>
              </a:rPr>
              <a:t>8.   Conclusões e Trabalho Futuro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Arquitetura ANFIS — Camada a Camada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286000" cy="5029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Entrada  [B, 11]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21615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56B72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1143000"/>
            <a:ext cx="228600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MixedFuzzyLayer
[B,11,M]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121615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56B72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4336" y="1143000"/>
            <a:ext cx="22860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ClusterRuleLayer
[B, 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336" y="121615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56B72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143000"/>
            <a:ext cx="228600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DefuzzyLayer
[B, 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6064" y="121615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56B72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65792" y="1143000"/>
            <a:ext cx="2286000" cy="5029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Sigmoid → P(d)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83080"/>
            <a:ext cx="36576" cy="4709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1783080"/>
            <a:ext cx="374903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MixedFuzzyLayer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Numéricas → MFs Gaussianas treináveis: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μ(x) = exp(−½·((x−c)/σ)²)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c, σ ajustados por backprop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Categóricas → one-hot suavizado: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out[cat correta] = 0,95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out[demais] = 0,05/(n−1)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Exemplos: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ChestPainType: ASY→3, ATA→0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ExerciseAngina: N→0, Y→1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ST_Slope: Down→0, Flat→1, Up→2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83080"/>
            <a:ext cx="36576" cy="47091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1783080"/>
            <a:ext cx="374903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ClusterRuleLayer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T-norma produto (diferenciável):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w_k = ∏ᵢ μᵢ,combo[k,i](xᵢ)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combo[k,i] = índice da MF da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regra k na feature i (K-Means)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Normalização: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w̃_k = w_k / (Σⱼ wⱼ + ε)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Sem parâmetros treináveis.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rule_idx como register_buffer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783080"/>
            <a:ext cx="36576" cy="4709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783080"/>
            <a:ext cx="374903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DefuzzyLayer  +  Loss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Takagi-Sugeno (ordem 0):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ŷ = Σ_k w̃_k · c_k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c_k ∈ nn.Linear(R→1)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Loss = BCE + λ · penalidade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BCE(σ(ŷ), y)</a:t>
            </a:r>
          </a:p>
          <a:p>
            <a:pPr algn="l">
              <a:spcBef>
                <a:spcPts val="300"/>
              </a:spcBef>
            </a:pPr>
            <a:endParaRPr sz="11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λ·Σᵢ&lt;ⱼ relu(σᵢ+σⱼ−|cᵢ−cⱼ|)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Penaliza MFs sobrepostas.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Se |cᵢ−cⱼ| &lt; σᵢ+σⱼ: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MF j cabe dentro de MF i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12121"/>
                </a:solidFill>
              </a:rPr>
              <a:t>  → partição incoerente  (λ=0,1)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Dataset e Configuração Experimental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50292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Heart Failure Prediction Dataset</a:t>
            </a:r>
          </a:p>
          <a:p>
            <a:pPr algn="l">
              <a:spcBef>
                <a:spcPts val="300"/>
              </a:spcBef>
            </a:pPr>
            <a:endParaRPr sz="13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▸  918 pacientes adultos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▸  Variável alvo: HeartDisease (0/1)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▸  Prevalência: ~55% positivos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▸  Split: 80% treino / 20% teste</a:t>
            </a:r>
          </a:p>
          <a:p>
            <a:pPr algn="l">
              <a:spcBef>
                <a:spcPts val="300"/>
              </a:spcBef>
            </a:pPr>
            <a:endParaRPr sz="13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Features numéricas (5):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   Age, RestingBP, Cholesterol, MaxHR, Oldpeak</a:t>
            </a:r>
          </a:p>
          <a:p>
            <a:pPr algn="l">
              <a:spcBef>
                <a:spcPts val="300"/>
              </a:spcBef>
            </a:pPr>
            <a:endParaRPr sz="13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Features categóricas (6):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   Sex, ChestPainType, FastingBS,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   RestingECG, ExerciseAngina, ST_Slope</a:t>
            </a:r>
          </a:p>
          <a:p>
            <a:pPr algn="l">
              <a:spcBef>
                <a:spcPts val="300"/>
              </a:spcBef>
            </a:pPr>
            <a:endParaRPr sz="13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Pré-processamento: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   PartialScaler: z-score só nas numéricas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   Categóricas mantêm código inteiro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1430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F6E"/>
                </a:solidFill>
              </a:rPr>
              <a:t>Exemplo de registros no dataset: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554480"/>
            <a:ext cx="726948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3076" y="1554480"/>
            <a:ext cx="726948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68312" y="1554480"/>
            <a:ext cx="726948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ChestPain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3548" y="1554480"/>
            <a:ext cx="726948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MaxHR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58784" y="1554480"/>
            <a:ext cx="726948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ExAngina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4020" y="1554480"/>
            <a:ext cx="726948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Oldpeak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9256" y="1554480"/>
            <a:ext cx="726948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94492" y="1554480"/>
            <a:ext cx="726948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947672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3076" y="1947672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68312" y="1947672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3548" y="1947672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172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58784" y="1947672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04020" y="1947672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0.0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1947672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94492" y="1947672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340864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49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3076" y="2340864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68312" y="2340864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NAP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3548" y="2340864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156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8784" y="2340864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04020" y="2340864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2340864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Flat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94492" y="2340864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2734056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37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3076" y="2734056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68312" y="2734056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3548" y="2734056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 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58784" y="2734056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04020" y="2734056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0.0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49256" y="2734056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94492" y="2734056"/>
            <a:ext cx="726948" cy="37490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127248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48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3076" y="3127248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68312" y="3127248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ASY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3548" y="3127248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108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58784" y="3127248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04020" y="3127248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49256" y="3127248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Flat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94492" y="3127248"/>
            <a:ext cx="7269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212121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5661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B72"/>
                </a:solidFill>
              </a:rPr>
              <a:t>HD = HeartDisease (variável alvo)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397764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Configuração: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NUM_MFS=3  |  EPOCHS=200  |  lr=1e-3  |  batch=32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ANFIS: 200 clusters K-Means  |  MLP: [64, 32]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Geração do Pool de Regras via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1365992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>
                <a:solidFill>
                  <a:srgbClr val="212121"/>
                </a:solidFill>
              </a:rPr>
              <a:t>⚠  A fuzzificação percentílica abaixo é um ARTIFÍCIO de mapeamento — não são as MFs do ANFIS. Servem exclusivamente para converter centros de clusters em índices discretos e selecionar quais combinações de antecedentes entram no pool de regras.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1136599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1.  Picos por percentil  (artifício de simplificação):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   pcts = [25%, 50%, 75%]  →  peaks[fi] = percentis da distribuição de treino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   Generalização que converte o espaço contínuo em labels baixo/médio/alto</a:t>
            </a:r>
          </a:p>
          <a:p>
            <a:pPr algn="l">
              <a:spcBef>
                <a:spcPts val="300"/>
              </a:spcBef>
            </a:pPr>
            <a:endParaRPr sz="12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2.  K-Means (200 clusters) particiona o espaço de entrada: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   Sem supervisão — agrupa por proximidade nas features</a:t>
            </a:r>
          </a:p>
          <a:p>
            <a:pPr algn="l">
              <a:spcBef>
                <a:spcPts val="300"/>
              </a:spcBef>
            </a:pPr>
            <a:endParaRPr sz="12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3.  Mapeamento dominante por cluster: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   Numérica:   argmax μ_triangular(centro_k, pico_j)  →  índice 0, 1, 2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   Categórica: round(centro_k)                        →  código inteiro</a:t>
            </a:r>
          </a:p>
          <a:p>
            <a:pPr algn="l">
              <a:spcBef>
                <a:spcPts val="300"/>
              </a:spcBef>
            </a:pPr>
            <a:endParaRPr sz="12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4.  Deduplicação: clusters com mesmo vetor de labels → uma regra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   200 clusters → ~197 combos únicos nesta execução</a:t>
            </a:r>
          </a:p>
          <a:p>
            <a:pPr algn="l">
              <a:spcBef>
                <a:spcPts val="300"/>
              </a:spcBef>
            </a:pPr>
            <a:endParaRPr sz="12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5.  Centros Gaussianos do ANFIS inicializados nos percentis dos centros K-Means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12121"/>
                </a:solidFill>
              </a:rPr>
              <a:t>      Treino end-to-end refina c, σ e c_k independentemente deste mapeamento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Métricas de Avaliação Utilizadas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73352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Área sob a curva ROC.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Mede separação das classes independentemente do limiar.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AUC=1,0 → perfeito  |  AUC=0,5 → aleatório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47548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Acurácia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73352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Proporção de predições corretas.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  Acurácia = (VP + VN) / 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Sensível ao desbalanceamento de classes.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143000"/>
            <a:ext cx="3657600" cy="47548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673352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Média harmônica entre Precisão e Revocação.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  F1 = 2·(P·R) / (P+R)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Preferível quando as classes são desbalanceadas.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6052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B72"/>
                </a:solidFill>
              </a:rPr>
              <a:t>Limiar de decisão: 0,5  |  Testado no conjunto de teste (20% dos dados)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MFs de Saída — Conversão do Resultado TS em Rótulo Linguístico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3800"/>
            <a:ext cx="5477256" cy="427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O </a:t>
            </a:r>
            <a:r>
              <a:rPr sz="1300" dirty="0" err="1">
                <a:solidFill>
                  <a:srgbClr val="212121"/>
                </a:solidFill>
              </a:rPr>
              <a:t>problema</a:t>
            </a:r>
            <a:r>
              <a:rPr sz="1300" dirty="0">
                <a:solidFill>
                  <a:srgbClr val="212121"/>
                </a:solidFill>
              </a:rPr>
              <a:t>:</a:t>
            </a: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</a:t>
            </a:r>
            <a:r>
              <a:rPr sz="1300" dirty="0" err="1">
                <a:solidFill>
                  <a:srgbClr val="212121"/>
                </a:solidFill>
              </a:rPr>
              <a:t>DefuzzyLayer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produz</a:t>
            </a:r>
            <a:r>
              <a:rPr sz="1300" dirty="0">
                <a:solidFill>
                  <a:srgbClr val="212121"/>
                </a:solidFill>
              </a:rPr>
              <a:t> ŷ ∈ ℝ  →  sigmoid  →  P(</a:t>
            </a:r>
            <a:r>
              <a:rPr sz="1300" dirty="0" err="1">
                <a:solidFill>
                  <a:srgbClr val="212121"/>
                </a:solidFill>
              </a:rPr>
              <a:t>doença</a:t>
            </a:r>
            <a:r>
              <a:rPr sz="1300" dirty="0">
                <a:solidFill>
                  <a:srgbClr val="212121"/>
                </a:solidFill>
              </a:rPr>
              <a:t>) ∈ [0,1].</a:t>
            </a: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</a:t>
            </a:r>
            <a:r>
              <a:rPr sz="1300" dirty="0" err="1">
                <a:solidFill>
                  <a:srgbClr val="212121"/>
                </a:solidFill>
              </a:rPr>
              <a:t>Regras</a:t>
            </a:r>
            <a:r>
              <a:rPr sz="1300" dirty="0">
                <a:solidFill>
                  <a:srgbClr val="212121"/>
                </a:solidFill>
              </a:rPr>
              <a:t> Takagi-</a:t>
            </a:r>
            <a:r>
              <a:rPr sz="1300" dirty="0" err="1">
                <a:solidFill>
                  <a:srgbClr val="212121"/>
                </a:solidFill>
              </a:rPr>
              <a:t>Sugeno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não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têm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consequente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linguístico</a:t>
            </a:r>
            <a:r>
              <a:rPr sz="1300" dirty="0">
                <a:solidFill>
                  <a:srgbClr val="212121"/>
                </a:solidFill>
              </a:rPr>
              <a:t>, </a:t>
            </a:r>
            <a:r>
              <a:rPr sz="1300" dirty="0" err="1">
                <a:solidFill>
                  <a:srgbClr val="212121"/>
                </a:solidFill>
              </a:rPr>
              <a:t>apenas</a:t>
            </a:r>
            <a:r>
              <a:rPr sz="1300" dirty="0">
                <a:solidFill>
                  <a:srgbClr val="212121"/>
                </a:solidFill>
              </a:rPr>
              <a:t> um </a:t>
            </a:r>
            <a:r>
              <a:rPr sz="1300" dirty="0" err="1">
                <a:solidFill>
                  <a:srgbClr val="212121"/>
                </a:solidFill>
              </a:rPr>
              <a:t>número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c_k</a:t>
            </a:r>
            <a:r>
              <a:rPr sz="1300" dirty="0">
                <a:solidFill>
                  <a:srgbClr val="212121"/>
                </a:solidFill>
              </a:rPr>
              <a:t>.</a:t>
            </a: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Para </a:t>
            </a:r>
            <a:r>
              <a:rPr sz="1300" dirty="0" err="1">
                <a:solidFill>
                  <a:srgbClr val="212121"/>
                </a:solidFill>
              </a:rPr>
              <a:t>transcrever</a:t>
            </a:r>
            <a:r>
              <a:rPr sz="1300" dirty="0">
                <a:solidFill>
                  <a:srgbClr val="212121"/>
                </a:solidFill>
              </a:rPr>
              <a:t> "SE ... ENTÃO </a:t>
            </a:r>
            <a:r>
              <a:rPr sz="1300" dirty="0" err="1">
                <a:solidFill>
                  <a:srgbClr val="212121"/>
                </a:solidFill>
              </a:rPr>
              <a:t>risco</a:t>
            </a:r>
            <a:r>
              <a:rPr sz="1300" dirty="0">
                <a:solidFill>
                  <a:srgbClr val="212121"/>
                </a:solidFill>
              </a:rPr>
              <a:t> = ALTO" </a:t>
            </a:r>
            <a:r>
              <a:rPr sz="1300" dirty="0" err="1">
                <a:solidFill>
                  <a:srgbClr val="212121"/>
                </a:solidFill>
              </a:rPr>
              <a:t>precisamos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mapear</a:t>
            </a:r>
            <a:r>
              <a:rPr sz="1300" dirty="0">
                <a:solidFill>
                  <a:srgbClr val="212121"/>
                </a:solidFill>
              </a:rPr>
              <a:t> ŷ a um label.</a:t>
            </a:r>
          </a:p>
          <a:p>
            <a:pPr algn="l">
              <a:spcBef>
                <a:spcPts val="300"/>
              </a:spcBef>
            </a:pPr>
            <a:endParaRPr sz="1300" dirty="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A </a:t>
            </a:r>
            <a:r>
              <a:rPr sz="1300" dirty="0" err="1">
                <a:solidFill>
                  <a:srgbClr val="212121"/>
                </a:solidFill>
              </a:rPr>
              <a:t>solução</a:t>
            </a:r>
            <a:r>
              <a:rPr sz="1300" dirty="0">
                <a:solidFill>
                  <a:srgbClr val="212121"/>
                </a:solidFill>
              </a:rPr>
              <a:t> (</a:t>
            </a:r>
            <a:r>
              <a:rPr sz="1300" dirty="0" err="1">
                <a:solidFill>
                  <a:srgbClr val="212121"/>
                </a:solidFill>
              </a:rPr>
              <a:t>definição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analítica</a:t>
            </a:r>
            <a:r>
              <a:rPr sz="1300" dirty="0">
                <a:solidFill>
                  <a:srgbClr val="212121"/>
                </a:solidFill>
              </a:rPr>
              <a:t> manual):</a:t>
            </a: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5 MFs </a:t>
            </a:r>
            <a:r>
              <a:rPr sz="1300" dirty="0" err="1">
                <a:solidFill>
                  <a:srgbClr val="212121"/>
                </a:solidFill>
              </a:rPr>
              <a:t>triangulares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uniformemente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espaçadas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em</a:t>
            </a:r>
            <a:r>
              <a:rPr sz="1300" dirty="0">
                <a:solidFill>
                  <a:srgbClr val="212121"/>
                </a:solidFill>
              </a:rPr>
              <a:t> [0, 1]:</a:t>
            </a: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</a:t>
            </a:r>
            <a:r>
              <a:rPr sz="1300" dirty="0" err="1">
                <a:solidFill>
                  <a:srgbClr val="212121"/>
                </a:solidFill>
              </a:rPr>
              <a:t>centros</a:t>
            </a:r>
            <a:r>
              <a:rPr sz="1300" dirty="0">
                <a:solidFill>
                  <a:srgbClr val="212121"/>
                </a:solidFill>
              </a:rPr>
              <a:t>  c = [1/6, 2/6, 3/6, 4/6, 5/6]</a:t>
            </a: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</a:t>
            </a:r>
            <a:r>
              <a:rPr sz="1300" dirty="0" err="1">
                <a:solidFill>
                  <a:srgbClr val="212121"/>
                </a:solidFill>
              </a:rPr>
              <a:t>meia-largura</a:t>
            </a:r>
            <a:r>
              <a:rPr sz="1300" dirty="0">
                <a:solidFill>
                  <a:srgbClr val="212121"/>
                </a:solidFill>
              </a:rPr>
              <a:t>  </a:t>
            </a:r>
            <a:r>
              <a:rPr sz="1300" dirty="0" err="1">
                <a:solidFill>
                  <a:srgbClr val="212121"/>
                </a:solidFill>
              </a:rPr>
              <a:t>hw</a:t>
            </a:r>
            <a:r>
              <a:rPr sz="1300" dirty="0">
                <a:solidFill>
                  <a:srgbClr val="212121"/>
                </a:solidFill>
              </a:rPr>
              <a:t> = 1/6  →  </a:t>
            </a:r>
            <a:r>
              <a:rPr sz="1300" dirty="0" err="1">
                <a:solidFill>
                  <a:srgbClr val="212121"/>
                </a:solidFill>
              </a:rPr>
              <a:t>partição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exata</a:t>
            </a:r>
            <a:r>
              <a:rPr sz="1300" dirty="0">
                <a:solidFill>
                  <a:srgbClr val="212121"/>
                </a:solidFill>
              </a:rPr>
              <a:t>, </a:t>
            </a:r>
            <a:r>
              <a:rPr sz="1300" dirty="0" err="1">
                <a:solidFill>
                  <a:srgbClr val="212121"/>
                </a:solidFill>
              </a:rPr>
              <a:t>sem</a:t>
            </a:r>
            <a:r>
              <a:rPr sz="1300" dirty="0">
                <a:solidFill>
                  <a:srgbClr val="212121"/>
                </a:solidFill>
              </a:rPr>
              <a:t> </a:t>
            </a:r>
            <a:r>
              <a:rPr sz="1300" dirty="0" err="1">
                <a:solidFill>
                  <a:srgbClr val="212121"/>
                </a:solidFill>
              </a:rPr>
              <a:t>sobreposição</a:t>
            </a:r>
            <a:endParaRPr sz="1300" dirty="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endParaRPr sz="1300" dirty="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μⱼ(ŷ) = max(0,  1 − |ŷ − cⱼ| / </a:t>
            </a:r>
            <a:r>
              <a:rPr sz="1300" dirty="0" err="1">
                <a:solidFill>
                  <a:srgbClr val="212121"/>
                </a:solidFill>
              </a:rPr>
              <a:t>hw</a:t>
            </a:r>
            <a:r>
              <a:rPr sz="1300" dirty="0">
                <a:solidFill>
                  <a:srgbClr val="212121"/>
                </a:solidFill>
              </a:rPr>
              <a:t>)</a:t>
            </a: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</a:t>
            </a:r>
            <a:r>
              <a:rPr sz="1300" dirty="0" err="1">
                <a:solidFill>
                  <a:srgbClr val="212121"/>
                </a:solidFill>
              </a:rPr>
              <a:t>rótulo</a:t>
            </a:r>
            <a:r>
              <a:rPr sz="1300" dirty="0">
                <a:solidFill>
                  <a:srgbClr val="212121"/>
                </a:solidFill>
              </a:rPr>
              <a:t>(ŷ) = argmaxⱼ μⱼ(ŷ)</a:t>
            </a:r>
          </a:p>
          <a:p>
            <a:pPr algn="l">
              <a:spcBef>
                <a:spcPts val="300"/>
              </a:spcBef>
            </a:pPr>
            <a:endParaRPr sz="1300" dirty="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Labels: </a:t>
            </a:r>
            <a:r>
              <a:rPr sz="1300" dirty="0" err="1">
                <a:solidFill>
                  <a:srgbClr val="212121"/>
                </a:solidFill>
              </a:rPr>
              <a:t>baixo</a:t>
            </a:r>
            <a:r>
              <a:rPr sz="1300" dirty="0">
                <a:solidFill>
                  <a:srgbClr val="212121"/>
                </a:solidFill>
              </a:rPr>
              <a:t> | </a:t>
            </a:r>
            <a:r>
              <a:rPr sz="1300" dirty="0" err="1">
                <a:solidFill>
                  <a:srgbClr val="212121"/>
                </a:solidFill>
              </a:rPr>
              <a:t>baixo_médio</a:t>
            </a:r>
            <a:r>
              <a:rPr sz="1300" dirty="0">
                <a:solidFill>
                  <a:srgbClr val="212121"/>
                </a:solidFill>
              </a:rPr>
              <a:t> | </a:t>
            </a:r>
            <a:r>
              <a:rPr sz="1300" dirty="0" err="1">
                <a:solidFill>
                  <a:srgbClr val="212121"/>
                </a:solidFill>
              </a:rPr>
              <a:t>médio</a:t>
            </a:r>
            <a:r>
              <a:rPr sz="1300" dirty="0">
                <a:solidFill>
                  <a:srgbClr val="212121"/>
                </a:solidFill>
              </a:rPr>
              <a:t> | </a:t>
            </a:r>
            <a:r>
              <a:rPr sz="1300" dirty="0" err="1">
                <a:solidFill>
                  <a:srgbClr val="212121"/>
                </a:solidFill>
              </a:rPr>
              <a:t>médio_alto</a:t>
            </a:r>
            <a:r>
              <a:rPr sz="1300" dirty="0">
                <a:solidFill>
                  <a:srgbClr val="212121"/>
                </a:solidFill>
              </a:rPr>
              <a:t> | alto</a:t>
            </a:r>
          </a:p>
          <a:p>
            <a:pPr algn="l">
              <a:spcBef>
                <a:spcPts val="300"/>
              </a:spcBef>
            </a:pPr>
            <a:endParaRPr sz="1300" dirty="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dirty="0">
                <a:solidFill>
                  <a:srgbClr val="212121"/>
                </a:solidFill>
              </a:rPr>
              <a:t>   Ex.: ŷ = 0,78  →  μ₄(alto) = 0,68  →  </a:t>
            </a:r>
            <a:r>
              <a:rPr sz="1300" dirty="0" err="1">
                <a:solidFill>
                  <a:srgbClr val="212121"/>
                </a:solidFill>
              </a:rPr>
              <a:t>risco</a:t>
            </a:r>
            <a:r>
              <a:rPr sz="1300" dirty="0">
                <a:solidFill>
                  <a:srgbClr val="212121"/>
                </a:solidFill>
              </a:rPr>
              <a:t> = alto</a:t>
            </a:r>
          </a:p>
        </p:txBody>
      </p:sp>
      <p:pic>
        <p:nvPicPr>
          <p:cNvPr id="8" name="Picture 7" descr="mfs_anf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1143000"/>
            <a:ext cx="5998464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6309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B72"/>
                </a:solidFill>
              </a:rPr>
              <a:t>↑ painel "Output — risco" (inferior direito)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Resultados: Métricas de Desempenho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984248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143000"/>
            <a:ext cx="1709928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Parâmetros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1709928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Treino 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43000"/>
            <a:ext cx="1847087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Acurácia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143000"/>
            <a:ext cx="1847087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143000"/>
            <a:ext cx="1847087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56232"/>
            <a:ext cx="1984248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ANFIS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856232"/>
            <a:ext cx="1709928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228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856232"/>
            <a:ext cx="1709928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14,9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56232"/>
            <a:ext cx="1847087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84,2 %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856232"/>
            <a:ext cx="1847087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85,9 %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856232"/>
            <a:ext cx="1847087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0,912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69464"/>
            <a:ext cx="1984248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MLP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2569464"/>
            <a:ext cx="1709928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2.881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569464"/>
            <a:ext cx="1709928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4,8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569464"/>
            <a:ext cx="1847087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81,5 %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2569464"/>
            <a:ext cx="1847087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82,5 %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569464"/>
            <a:ext cx="1847087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12121"/>
                </a:solidFill>
              </a:rPr>
              <a:t>0,901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474720"/>
            <a:ext cx="113659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>
                <a:solidFill>
                  <a:srgbClr val="212121"/>
                </a:solidFill>
              </a:rPr>
              <a:t>▸  ANFIS supera o MLP em todas as métricas nesta execução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12121"/>
                </a:solidFill>
              </a:rPr>
              <a:t>▸  13× menos parâmetros (228 vs 2.881)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12121"/>
                </a:solidFill>
              </a:rPr>
              <a:t>▸  ANFIS ~3× mais lento para treinar — aceitável em produção offline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212121"/>
                </a:solidFill>
              </a:rPr>
              <a:t>▸  MLP não oferece nenhuma explicação sobre suas predições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Funções de Pertinência Gaussianas Aprendidas (pós-treinamento)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pic>
        <p:nvPicPr>
          <p:cNvPr id="7" name="Picture 6" descr="mfs_anf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113659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Regras Linguísticas Extraídas — Top-10 por Força de Disparo Média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005840" cy="40782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R1 BAIXO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88720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Sex=M, CPT=ATA, RBP=normal, Chol=alto,  FBS=0, ECG=Normal, MaxHR=alta,  Ang=N, OP=normal,  ST=Up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78254"/>
            <a:ext cx="1005840" cy="40782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R2 ALTO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23974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Sex=M, CPT=ASY, RBP=normal, Chol=desej, FBS=0, ECG=Normal, MaxHR=baixa, Ang=Y, OP=elevado, ST=Flat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13508"/>
            <a:ext cx="1005840" cy="40782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R3 ALTO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59228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Age=idoso, Sex=M, CPT=ASY, RBP=normal, Chol=alto,  FBS=0, ECG=ST,     MaxHR=baixa, Ang=Y, OP=elevado, ST=Flat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48762"/>
            <a:ext cx="1005840" cy="40782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R4 BAIXO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94482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Sex=M, CPT=ATA, RBP=elevado,Chol=desej, FBS=0, ECG=Normal, MaxHR=baixa, Ang=N, OP=normal,  ST=Up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84016"/>
            <a:ext cx="1005840" cy="40782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R5 BAIXO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929736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Sex=M, CPT=ATA, RBP=otimo,  Chol=desej, FBS=0, ECG=Normal, MaxHR=baixa, Ang=N, OP=normal,  ST=Up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19270"/>
            <a:ext cx="1005840" cy="40782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R6 BAIXO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364990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Sex=F, CPT=ATA, RBP=otimo,  Chol=alto,  FBS=0, ECG=Normal, MaxHR=baixa, Ang=N, OP=normal,  ST=Up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54524"/>
            <a:ext cx="1005840" cy="40782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R7 ALTO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00244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Age=idoso, Sex=M, CPT=ASY, RBP=normal, Chol=desej, FBS=0, ECG=LVH,    MaxHR=baixa, Ang=Y, OP=elevado, ST=Flat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89778"/>
            <a:ext cx="1005840" cy="40782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R8 BAIXO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35498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Sex=M, CPT=NAP, RBP=normal, Chol=desej, FBS=0, ECG=Normal, MaxHR=alta,  Ang=N, OP=normal,  ST=Up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25032"/>
            <a:ext cx="1005840" cy="40782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R9 ALTO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0752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Sex=M, CPT=ASY, RBP=otimo,  Chol=desej, FBS=1, ECG=Normal, MaxHR=baixa, Ang=N, OP=normal,  ST=Flat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60286"/>
            <a:ext cx="1005840" cy="40782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R10 ALTO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106006"/>
            <a:ext cx="1026871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Sex=M, CPT=ASY, RBP=elevado,Chol=desej, FBS=0, ECG=Normal, MaxHR=baixa, Ang=Y, OP=elevado, ST=Flat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Comparação de Risco: ANFIS vs MLP (Conjunto de Teste)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pic>
        <p:nvPicPr>
          <p:cNvPr id="7" name="Picture 6" descr="ris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113659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Análise: ANFIS como Alternativa Interpretável ao 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1365992" cy="6400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E7D32"/>
                </a:solidFill>
              </a:rPr>
              <a:t>ANFIS supera o MLP em todas as métricas com 13× menos parâmetros e produz regras linguísticas auditáveis.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1136599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Eficiência paramétrica: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228 vs 2.881 parâmetros — centros e variâncias têm interpretação direta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Cada c_k aprendido representa a "opinião" daquela regra sobre o risco</a:t>
            </a:r>
          </a:p>
          <a:p>
            <a:pPr algn="l">
              <a:spcBef>
                <a:spcPts val="300"/>
              </a:spcBef>
            </a:pPr>
            <a:endParaRPr sz="14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Interpretabilidade genuína: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ST_Slope=Flat + ExerciseAngina=Y + Oldpeak=elevado → padrão recorrente de alto risco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Compatível com literatura médica sobre isquemia cardíaca</a:t>
            </a:r>
          </a:p>
          <a:p>
            <a:pPr algn="l">
              <a:spcBef>
                <a:spcPts val="300"/>
              </a:spcBef>
            </a:pPr>
            <a:endParaRPr sz="14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Tradeoff velocidade: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ANFIS: 14,9 s  vs  MLP: 4,8 s — diferença aceitável em produção offline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Pontos de Atenção e Limitações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6599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1.  Explosão de regras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   n_regras ∝ num_mfs^n_inputs — inviável sem seleção/deduplicação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   Solução: K-Means como filtro + deduplicação por combo de MFs dominantes</a:t>
            </a:r>
          </a:p>
          <a:p>
            <a:pPr algn="l">
              <a:spcBef>
                <a:spcPts val="300"/>
              </a:spcBef>
            </a:pPr>
            <a:endParaRPr sz="14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2.  Features categóricas em sistemas fuzzy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   Não existe grau de pertinência natural entre categorias discretas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   MixedFuzzyLayer usa one-hot suavizado:  μ=0,95 (certa) / 0,05/(n−1) (demais)</a:t>
            </a:r>
          </a:p>
          <a:p>
            <a:pPr algn="l">
              <a:spcBef>
                <a:spcPts val="300"/>
              </a:spcBef>
            </a:pPr>
            <a:endParaRPr sz="14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3.  Sensibilidade à inicialização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   K-Means determinístico (semente fixa) — pool de regras pode variar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   Penalidade de separação mitiga colapso de MFs durante treinamento</a:t>
            </a:r>
          </a:p>
          <a:p>
            <a:pPr algn="l">
              <a:spcBef>
                <a:spcPts val="300"/>
              </a:spcBef>
            </a:pPr>
            <a:endParaRPr sz="1400">
              <a:solidFill>
                <a:srgbClr val="212121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4.  Testado em um único dataset (n=918)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12121"/>
                </a:solidFill>
              </a:rPr>
              <a:t>      Generalização para outros domínios requer validação adicional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6599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600">
                <a:solidFill>
                  <a:srgbClr val="212121"/>
                </a:solidFill>
              </a:rPr>
              <a:t>✅  ANFIS supera o MLP em acurácia, F1 e AUC nesta execução</a:t>
            </a:r>
          </a:p>
          <a:p>
            <a:pPr algn="l">
              <a:spcBef>
                <a:spcPts val="700"/>
              </a:spcBef>
            </a:pPr>
            <a:r>
              <a:rPr sz="1600">
                <a:solidFill>
                  <a:srgbClr val="212121"/>
                </a:solidFill>
              </a:rPr>
              <a:t>✅  228 parâmetros treináveis vs 2.881 do MLP  (13× mais eficiente)</a:t>
            </a:r>
          </a:p>
          <a:p>
            <a:pPr algn="l">
              <a:spcBef>
                <a:spcPts val="700"/>
              </a:spcBef>
            </a:pPr>
            <a:r>
              <a:rPr sz="1600">
                <a:solidFill>
                  <a:srgbClr val="212121"/>
                </a:solidFill>
              </a:rPr>
              <a:t>✅  Regras linguísticas auditáveis revelam os padrões clínicos aprendidos</a:t>
            </a:r>
          </a:p>
          <a:p>
            <a:pPr algn="l">
              <a:spcBef>
                <a:spcPts val="700"/>
              </a:spcBef>
            </a:pPr>
            <a:r>
              <a:rPr sz="1600">
                <a:solidFill>
                  <a:srgbClr val="212121"/>
                </a:solidFill>
              </a:rPr>
              <a:t>✅  Pipeline reproduzível: K-Means → inicialização → treino end-to-end</a:t>
            </a:r>
          </a:p>
          <a:p>
            <a:pPr algn="l">
              <a:spcBef>
                <a:spcPts val="700"/>
              </a:spcBef>
            </a:pPr>
            <a:r>
              <a:rPr sz="1600">
                <a:solidFill>
                  <a:srgbClr val="212121"/>
                </a:solidFill>
              </a:rPr>
              <a:t>✅  Penalidade de separação garante MFs linguisticamente coerentes</a:t>
            </a:r>
          </a:p>
          <a:p>
            <a:pPr algn="l">
              <a:spcBef>
                <a:spcPts val="700"/>
              </a:spcBef>
            </a:pPr>
            <a:endParaRPr sz="1600">
              <a:solidFill>
                <a:srgbClr val="212121"/>
              </a:solidFill>
            </a:endParaRPr>
          </a:p>
          <a:p>
            <a:pPr algn="l">
              <a:spcBef>
                <a:spcPts val="700"/>
              </a:spcBef>
            </a:pPr>
            <a:r>
              <a:rPr sz="1600">
                <a:solidFill>
                  <a:srgbClr val="212121"/>
                </a:solidFill>
              </a:rPr>
              <a:t>→  ANFIS é uma alternativa viável quando interpretabilidade é requisito,</a:t>
            </a:r>
          </a:p>
          <a:p>
            <a:pPr algn="l">
              <a:spcBef>
                <a:spcPts val="700"/>
              </a:spcBef>
            </a:pPr>
            <a:r>
              <a:rPr sz="1600">
                <a:solidFill>
                  <a:srgbClr val="212121"/>
                </a:solidFill>
              </a:rPr>
              <a:t>    sem sacrifício — e neste caso com ganho — de desempenho preditivo.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Limitações e Trabalho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F6E"/>
                </a:solidFill>
              </a:rPr>
              <a:t>Limitações atuais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• Testado em único dataset (n=918)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• Categóricas sem MFs formalmente definidas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• Pool de regras depende da semente K-Means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• Treinamento ~3× mais lento que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794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F6E"/>
                </a:solidFill>
              </a:rPr>
              <a:t>Próximos passos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20624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• Validar em datasets maiores e multi-classe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• Incorporar conhecimento de especialistas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  na inicialização das MFs Gaussianas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• Comparar com XGBoost + SHAP como baseline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12121"/>
                </a:solidFill>
              </a:rPr>
              <a:t>• Interface de extração em linguagem natural</a:t>
            </a:r>
          </a:p>
        </p:txBody>
      </p:sp>
      <p:pic>
        <p:nvPicPr>
          <p:cNvPr id="11" name="Picture 10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143000"/>
            <a:ext cx="69037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889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212121"/>
                </a:solidFill>
              </a:rP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749039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B72"/>
                </a:solidFill>
              </a:rPr>
              <a:t>victor.m.bertini@gmail.com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5196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B72"/>
                </a:solidFill>
              </a:rPr>
              <a:t>github.com/vm-bertini/Fuzzy-Projeto-Final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02920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D32"/>
                </a:solidFill>
              </a:rPr>
              <a:t>"ANFIS: interpretabilidade sem sacrificar performance"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Apêndice A — Heatmap das Regras ANFIS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pic>
        <p:nvPicPr>
          <p:cNvPr id="7" name="Picture 6" descr="rul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113659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Apêndice B — Partição K-Means (pré-ANFIS)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pic>
        <p:nvPicPr>
          <p:cNvPr id="7" name="Picture 6" descr="mfs_kme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113659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14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11887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Apêndice C — Glossário das Features do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801368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143000"/>
            <a:ext cx="1252728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143000"/>
            <a:ext cx="8567928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Descrição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180136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508760"/>
            <a:ext cx="12527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Numérica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508760"/>
            <a:ext cx="85679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Idade do paciente (anos)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33956"/>
            <a:ext cx="180136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Sex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933956"/>
            <a:ext cx="12527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Categórica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1933956"/>
            <a:ext cx="85679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Sexo biológico: M = masculino, F = feminino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359152"/>
            <a:ext cx="180136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ChestPainType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2359152"/>
            <a:ext cx="12527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Categórica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2359152"/>
            <a:ext cx="85679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Tipo de dor torácica: ATA = dor atípica, NAP = dor não-anginosa, ASY = assintomático, TA = angina típica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84348"/>
            <a:ext cx="180136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RestingBP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784348"/>
            <a:ext cx="12527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Numérica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4348"/>
            <a:ext cx="85679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Pressão arterial em repouso (mmHg); valores 0 substituídos pela mediana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209544"/>
            <a:ext cx="180136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Cholesterol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3209544"/>
            <a:ext cx="12527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Numérica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209544"/>
            <a:ext cx="85679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Colesterol sérico (mg/dL); valores 0 substituídos pela mediana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34740"/>
            <a:ext cx="180136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FastingBS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3634740"/>
            <a:ext cx="12527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Categórica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634740"/>
            <a:ext cx="85679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Glicemia em jejum: 1 = glicemia &gt; 120 mg/dL (possível diabetes), 0 = normal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059936"/>
            <a:ext cx="180136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RestingECG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4059936"/>
            <a:ext cx="12527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Categórica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059936"/>
            <a:ext cx="85679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Resultado do ECG em repouso: Normal, ST = anormalidade onda ST-T, LVH = hipertrofia ventricular esquerda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485132"/>
            <a:ext cx="180136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MaxHR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0280" y="4485132"/>
            <a:ext cx="12527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Numérica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4485132"/>
            <a:ext cx="85679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Frequência cardíaca máxima atingida durante teste de esforço (bpm)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910328"/>
            <a:ext cx="180136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ExerciseAngina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910328"/>
            <a:ext cx="12527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Categórica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4910328"/>
            <a:ext cx="85679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Angina induzida por exercício: Y = sim, N = não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335524"/>
            <a:ext cx="180136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Oldpeak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5335524"/>
            <a:ext cx="12527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Numérica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5335524"/>
            <a:ext cx="8567928" cy="4069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Depressão do segmento ST induzida por exercício em relação ao repouso (mm)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760720"/>
            <a:ext cx="180136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212121"/>
                </a:solidFill>
              </a:rPr>
              <a:t>ST_Slope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5760720"/>
            <a:ext cx="12527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Categórica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5760720"/>
            <a:ext cx="8567928" cy="4069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212121"/>
                </a:solidFill>
              </a:rPr>
              <a:t>Inclinação do segmento ST no pico do exercício: Up = ascendente (saudável), Flat = plano, Down = descendente (risco)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2603</Words>
  <Application>Microsoft Office PowerPoint</Application>
  <PresentationFormat>Custom</PresentationFormat>
  <Paragraphs>355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Bertini</cp:lastModifiedBy>
  <cp:revision>1</cp:revision>
  <dcterms:created xsi:type="dcterms:W3CDTF">2013-01-27T09:14:16Z</dcterms:created>
  <dcterms:modified xsi:type="dcterms:W3CDTF">2026-06-23T07:11:27Z</dcterms:modified>
  <cp:category/>
</cp:coreProperties>
</file>