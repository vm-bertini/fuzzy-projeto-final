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4B7739-9B3B-453D-81EE-8D5FEB8375DB}" v="4" dt="2026-06-23T07:12:56.8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Bertini" userId="d993313d02d6d422" providerId="LiveId" clId="{458F1784-843B-461A-817F-C38F0F172C58}"/>
    <pc:docChg chg="modSld">
      <pc:chgData name="Victor Bertini" userId="d993313d02d6d422" providerId="LiveId" clId="{458F1784-843B-461A-817F-C38F0F172C58}" dt="2026-06-23T07:12:59.349" v="129" actId="1076"/>
      <pc:docMkLst>
        <pc:docMk/>
      </pc:docMkLst>
      <pc:sldChg chg="modSp mod">
        <pc:chgData name="Victor Bertini" userId="d993313d02d6d422" providerId="LiveId" clId="{458F1784-843B-461A-817F-C38F0F172C58}" dt="2026-06-23T07:11:27.055" v="4" actId="1076"/>
        <pc:sldMkLst>
          <pc:docMk/>
          <pc:sldMk cId="0" sldId="264"/>
        </pc:sldMkLst>
        <pc:spChg chg="mod">
          <ac:chgData name="Victor Bertini" userId="d993313d02d6d422" providerId="LiveId" clId="{458F1784-843B-461A-817F-C38F0F172C58}" dt="2026-06-23T07:11:27.055" v="4" actId="1076"/>
          <ac:spMkLst>
            <pc:docMk/>
            <pc:sldMk cId="0" sldId="264"/>
            <ac:spMk id="7" creationId="{00000000-0000-0000-0000-000000000000}"/>
          </ac:spMkLst>
        </pc:spChg>
        <pc:picChg chg="mod">
          <ac:chgData name="Victor Bertini" userId="d993313d02d6d422" providerId="LiveId" clId="{458F1784-843B-461A-817F-C38F0F172C58}" dt="2026-06-23T07:11:18.981" v="1" actId="14100"/>
          <ac:picMkLst>
            <pc:docMk/>
            <pc:sldMk cId="0" sldId="264"/>
            <ac:picMk id="8" creationId="{00000000-0000-0000-0000-000000000000}"/>
          </ac:picMkLst>
        </pc:picChg>
      </pc:sldChg>
      <pc:sldChg chg="modSp mod">
        <pc:chgData name="Victor Bertini" userId="d993313d02d6d422" providerId="LiveId" clId="{458F1784-843B-461A-817F-C38F0F172C58}" dt="2026-06-23T07:10:03.305" v="0" actId="14100"/>
        <pc:sldMkLst>
          <pc:docMk/>
          <pc:sldMk cId="0" sldId="272"/>
        </pc:sldMkLst>
        <pc:picChg chg="mod">
          <ac:chgData name="Victor Bertini" userId="d993313d02d6d422" providerId="LiveId" clId="{458F1784-843B-461A-817F-C38F0F172C58}" dt="2026-06-23T07:10:03.305" v="0" actId="14100"/>
          <ac:picMkLst>
            <pc:docMk/>
            <pc:sldMk cId="0" sldId="272"/>
            <ac:picMk id="11" creationId="{00000000-0000-0000-0000-000000000000}"/>
          </ac:picMkLst>
        </pc:picChg>
      </pc:sldChg>
      <pc:sldChg chg="modSp mod">
        <pc:chgData name="Victor Bertini" userId="d993313d02d6d422" providerId="LiveId" clId="{458F1784-843B-461A-817F-C38F0F172C58}" dt="2026-06-23T07:12:59.349" v="129" actId="1076"/>
        <pc:sldMkLst>
          <pc:docMk/>
          <pc:sldMk cId="0" sldId="273"/>
        </pc:sldMkLst>
        <pc:spChg chg="mod">
          <ac:chgData name="Victor Bertini" userId="d993313d02d6d422" providerId="LiveId" clId="{458F1784-843B-461A-817F-C38F0F172C58}" dt="2026-06-23T07:12:59.349" v="129" actId="1076"/>
          <ac:spMkLst>
            <pc:docMk/>
            <pc:sldMk cId="0" sldId="273"/>
            <ac:spMk id="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mailto:Victor.m.bertini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v194761@dac.unicamp.com.br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2103120"/>
            <a:ext cx="12188952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5029200"/>
            <a:ext cx="12188952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286000"/>
            <a:ext cx="113659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12121"/>
                </a:solidFill>
              </a:rPr>
              <a:t>Sistemas Neuro-Fuzzy para Classificação de Risco Cardíaco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611880"/>
            <a:ext cx="113659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B72"/>
                </a:solidFill>
              </a:rPr>
              <a:t>Comparação entre ANFIS e MLP: Acurácia vs Interpretabilidade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25780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B72"/>
                </a:solidFill>
              </a:rPr>
              <a:t>Victor M. Bertini   |   FEEC / Unicamp   |   Junho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Motivação: O Custo da Caixa-Preta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1365992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Modelos de ML atingem alta acurácia em diagnóstico cardíaco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Médicos precisam ENTENDER a decisão — não apenas confiar nela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"Por que este paciente foi classificado como alto risco?"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Regulações clínicas exigem rastreabilidade das decisões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▸  Redes neurais tradicionais (MLP) não fornecem nenhuma explicação</a:t>
            </a:r>
          </a:p>
          <a:p>
            <a:pPr algn="l">
              <a:spcBef>
                <a:spcPts val="300"/>
              </a:spcBef>
            </a:pPr>
            <a:endParaRPr sz="16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→  Pergunta central:</a:t>
            </a:r>
          </a:p>
          <a:p>
            <a:pPr algn="l">
              <a:spcBef>
                <a:spcPts val="300"/>
              </a:spcBef>
            </a:pPr>
            <a:r>
              <a:rPr sz="1600">
                <a:solidFill>
                  <a:srgbClr val="212121"/>
                </a:solidFill>
              </a:rPr>
              <a:t>    É possível ter desempenho comparável ao MLP com interpretabilidade linguística?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 Lacuna: Acurácia vs Interpretabilidade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5394960" cy="50292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C3F6E"/>
                </a:solidFill>
              </a:rPr>
              <a:t>MLP  —  Caixa-Preta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Alta acurácia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Treinamento rápido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✗  Zero interpretabilidade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✗  Nenhuma regra auditável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✗  Inaceitável em contextos regulados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3375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556B72"/>
                </a:solidFill>
              </a:rPr>
              <a:t>vs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143000"/>
            <a:ext cx="5394960" cy="50292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ANFIS  —  Neuro-Fuzzy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916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Acurácia comparável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Regras linguísticas auditáveis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Parâmetros com significado físico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✓  13× menos parâmetros que MLP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~  Treinamento ligeiramente mais lento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Apresentação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1365992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1.   Arquitetura ANFIS — camada a camada com equações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2.   Dataset e Configuração Experimental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3.   Pipeline K-Means — geração do pool de regras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4.   Métricas de Avaliação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5.   MFs de Saída — conversão TS → rótulo linguístico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6.   Resultados: desempenho, MFs aprendidas e regras extraídas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7.   Análise Comparativa ANFIS × MLP</a:t>
            </a:r>
          </a:p>
          <a:p>
            <a:pPr algn="l">
              <a:spcBef>
                <a:spcPts val="700"/>
              </a:spcBef>
            </a:pPr>
            <a:r>
              <a:rPr sz="1700">
                <a:solidFill>
                  <a:srgbClr val="212121"/>
                </a:solidFill>
              </a:rPr>
              <a:t>8.   Conclusões e Trabalho Futuro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Arquitetura ANFIS — Camada a Camada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143000"/>
            <a:ext cx="2286000" cy="502920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Entrada  [B, 11]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21615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6B72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578608" y="1143000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MixedFuzzyLayer
[B,11,M]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21615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6B72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74336" y="1143000"/>
            <a:ext cx="2286000" cy="5029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ClusterRuleLayer
[B, 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0336" y="121615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6B72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70064" y="1143000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DefuzzyLayer
[B,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6064" y="1216152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56B72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65792" y="1143000"/>
            <a:ext cx="2286000" cy="502920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Sigmoid → P(d)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783080"/>
            <a:ext cx="36576" cy="47091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1783080"/>
            <a:ext cx="3749039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MixedFuzzyLayer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Numéricas → MFs Gaussianas treináveis: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μ(x) = exp(−½·((x−c)/σ)²)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c, σ ajustados por backprop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Categóricas → one-hot suavizado: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out[cat correta] = 0,95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out[demais] = 0,05/(n−1)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Exemplos: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ChestPainType: ASY→3, ATA→0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ExerciseAngina: N→0, Y→1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ST_Slope: Down→0, Flat→1, Up→2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83080"/>
            <a:ext cx="36576" cy="47091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1783080"/>
            <a:ext cx="3749039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ClusterRuleLayer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T-norma produto (diferenciável):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w_k = ∏ᵢ μᵢ,combo[k,i](xᵢ)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combo[k,i] = índice da MF da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regra k na feature i (K-Means)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Normalização: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w̃_k = w_k / (Σⱼ wⱼ + ε)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Sem parâmetros treináveis.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rule_idx como register_buffer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783080"/>
            <a:ext cx="36576" cy="47091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1783080"/>
            <a:ext cx="3749039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DefuzzyLayer  +  Loss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Takagi-Sugeno (ordem 0):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ŷ = Σ_k w̃_k · c_k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c_k ∈ nn.Linear(R→1)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Loss = BCE + λ · penalidade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BCE(σ(ŷ), y)</a:t>
            </a:r>
          </a:p>
          <a:p>
            <a:pPr algn="l">
              <a:spcBef>
                <a:spcPts val="300"/>
              </a:spcBef>
            </a:pPr>
            <a:endParaRPr sz="11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λ·Σᵢ&lt;ⱼ relu(σᵢ+σⱼ−|cᵢ−cⱼ|)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Penaliza MFs sobrepostas.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Se |cᵢ−cⱼ| &lt; σᵢ+σⱼ: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MF j cabe dentro de MF i</a:t>
            </a:r>
          </a:p>
          <a:p>
            <a:pPr algn="l">
              <a:spcBef>
                <a:spcPts val="300"/>
              </a:spcBef>
            </a:pPr>
            <a:r>
              <a:rPr sz="1100">
                <a:solidFill>
                  <a:srgbClr val="212121"/>
                </a:solidFill>
              </a:rPr>
              <a:t>  → partição incoerente  (λ=0,1)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Dataset e Configuração Experimental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50292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Heart Failure Prediction Dataset</a:t>
            </a:r>
          </a:p>
          <a:p>
            <a:pPr algn="l">
              <a:spcBef>
                <a:spcPts val="300"/>
              </a:spcBef>
            </a:pPr>
            <a:endParaRPr sz="13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▸  918 pacientes adultos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▸  Variável alvo: HeartDisease (0/1)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▸  Prevalência: ~55% positivos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▸  Split: 80% treino / 20% teste</a:t>
            </a:r>
          </a:p>
          <a:p>
            <a:pPr algn="l">
              <a:spcBef>
                <a:spcPts val="300"/>
              </a:spcBef>
            </a:pPr>
            <a:endParaRPr sz="13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Features numéricas (5):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Age, RestingBP, Cholesterol, MaxHR, Oldpeak</a:t>
            </a:r>
          </a:p>
          <a:p>
            <a:pPr algn="l">
              <a:spcBef>
                <a:spcPts val="300"/>
              </a:spcBef>
            </a:pPr>
            <a:endParaRPr sz="13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Features categóricas (6):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Sex, ChestPainType, FastingBS,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RestingECG, ExerciseAngina, ST_Slope</a:t>
            </a:r>
          </a:p>
          <a:p>
            <a:pPr algn="l">
              <a:spcBef>
                <a:spcPts val="300"/>
              </a:spcBef>
            </a:pPr>
            <a:endParaRPr sz="13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Pré-processamento: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PartialScaler: z-score só nas numéricas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 Categóricas mantêm código inteiro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14300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F6E"/>
                </a:solidFill>
              </a:rPr>
              <a:t>Exemplo de registros no dataset: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3076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68312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ChestPain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3548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MaxHR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58784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ExAngina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04020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Oldpeak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9256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94492" y="1554480"/>
            <a:ext cx="726948" cy="3931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HD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3076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8312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3548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58784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04020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0.0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94492" y="1947672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77840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49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3076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68312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NAP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3548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156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04020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Flat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794492" y="2340864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77840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37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23076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68312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3548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 98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58784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04020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49256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94492" y="2734056"/>
            <a:ext cx="726948" cy="37490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0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48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3076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68312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ASY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3548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58784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04020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49256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Flat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794492" y="3127248"/>
            <a:ext cx="7269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212121"/>
                </a:solidFill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35661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B72"/>
                </a:solidFill>
              </a:rPr>
              <a:t>HD = HeartDisease (variável alvo)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77840" y="3977640"/>
            <a:ext cx="6217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Configuração: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NUM_MFS=3  |  EPOCHS=200  |  lr=1e-3  |  batch=32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ANFIS: 200 clusters K-Means  |  MLP: [64, 32]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Geração do Pool de Regras via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1365992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>
                <a:solidFill>
                  <a:srgbClr val="212121"/>
                </a:solidFill>
              </a:rPr>
              <a:t>⚠  A fuzzificação percentílica abaixo é um ARTIFÍCIO de mapeamento — não são as MFs do ANFIS. Servem exclusivamente para converter centros de clusters em índices discretos e selecionar quais combinações de antecedentes entram no pool de regras.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11365992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1.  Picos por percentil  (artifício de simplificação):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pcts = [25%, 50%, 75%]  →  peaks[fi] = percentis da distribuição de treino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Generalização que converte o espaço contínuo em labels baixo/médio/alto</a:t>
            </a:r>
          </a:p>
          <a:p>
            <a:pPr algn="l">
              <a:spcBef>
                <a:spcPts val="300"/>
              </a:spcBef>
            </a:pPr>
            <a:endParaRPr sz="12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2.  K-Means (200 clusters) particiona o espaço de entrada: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Sem supervisão — agrupa por proximidade nas features</a:t>
            </a:r>
          </a:p>
          <a:p>
            <a:pPr algn="l">
              <a:spcBef>
                <a:spcPts val="300"/>
              </a:spcBef>
            </a:pPr>
            <a:endParaRPr sz="12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3.  Mapeamento dominante por cluster: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Numérica:   argmax μ_triangular(centro_k, pico_j)  →  índice 0, 1, 2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Categórica: round(centro_k)                        →  código inteiro</a:t>
            </a:r>
          </a:p>
          <a:p>
            <a:pPr algn="l">
              <a:spcBef>
                <a:spcPts val="300"/>
              </a:spcBef>
            </a:pPr>
            <a:endParaRPr sz="12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4.  Deduplicação: clusters com mesmo vetor de labels → uma regra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200 clusters → ~197 combos únicos nesta execução</a:t>
            </a:r>
          </a:p>
          <a:p>
            <a:pPr algn="l">
              <a:spcBef>
                <a:spcPts val="300"/>
              </a:spcBef>
            </a:pPr>
            <a:endParaRPr sz="12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5.  Centros Gaussianos do ANFIS inicializados nos percentis dos centros K-Means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12121"/>
                </a:solidFill>
              </a:rPr>
              <a:t>      Treino end-to-end refina c, σ e c_k independentemente deste mapeamento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Métricas de Avaliação Utilizadas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73352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Área sob a curva ROC.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Mede separação das classes independentemente do limiar.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AUC=1,0 → perfeito  |  AUC=0,5 → aleatório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43000"/>
            <a:ext cx="3657600" cy="47548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Acurácia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73352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Proporção de predições corretas.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Acurácia = (VP + VN) / N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Sensível ao desbalanceamento de classes.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1143000"/>
            <a:ext cx="3657600" cy="475488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F1-Score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673352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Média harmônica entre Precisão e Revocação.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F1 = 2·(P·R) / (P+R)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Preferível quando as classes são desbalanceadas.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160520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B72"/>
                </a:solidFill>
              </a:rPr>
              <a:t>Limiar de decisão: 0,5  |  Testado no conjunto de teste (20% dos dados)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MFs de Saída — Conversão do Resultado TS em Rótulo Linguístico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93800"/>
            <a:ext cx="5477256" cy="427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O </a:t>
            </a:r>
            <a:r>
              <a:rPr sz="1300" dirty="0" err="1">
                <a:solidFill>
                  <a:srgbClr val="212121"/>
                </a:solidFill>
              </a:rPr>
              <a:t>problema</a:t>
            </a:r>
            <a:r>
              <a:rPr sz="1300" dirty="0">
                <a:solidFill>
                  <a:srgbClr val="212121"/>
                </a:solidFill>
              </a:rPr>
              <a:t>:</a:t>
            </a: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</a:t>
            </a:r>
            <a:r>
              <a:rPr sz="1300" dirty="0" err="1">
                <a:solidFill>
                  <a:srgbClr val="212121"/>
                </a:solidFill>
              </a:rPr>
              <a:t>DefuzzyLayer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produz</a:t>
            </a:r>
            <a:r>
              <a:rPr sz="1300" dirty="0">
                <a:solidFill>
                  <a:srgbClr val="212121"/>
                </a:solidFill>
              </a:rPr>
              <a:t> ŷ ∈ ℝ  →  sigmoid  →  P(</a:t>
            </a:r>
            <a:r>
              <a:rPr sz="1300" dirty="0" err="1">
                <a:solidFill>
                  <a:srgbClr val="212121"/>
                </a:solidFill>
              </a:rPr>
              <a:t>doença</a:t>
            </a:r>
            <a:r>
              <a:rPr sz="1300" dirty="0">
                <a:solidFill>
                  <a:srgbClr val="212121"/>
                </a:solidFill>
              </a:rPr>
              <a:t>) ∈ [0,1].</a:t>
            </a: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</a:t>
            </a:r>
            <a:r>
              <a:rPr sz="1300" dirty="0" err="1">
                <a:solidFill>
                  <a:srgbClr val="212121"/>
                </a:solidFill>
              </a:rPr>
              <a:t>Regras</a:t>
            </a:r>
            <a:r>
              <a:rPr sz="1300" dirty="0">
                <a:solidFill>
                  <a:srgbClr val="212121"/>
                </a:solidFill>
              </a:rPr>
              <a:t> Takagi-</a:t>
            </a:r>
            <a:r>
              <a:rPr sz="1300" dirty="0" err="1">
                <a:solidFill>
                  <a:srgbClr val="212121"/>
                </a:solidFill>
              </a:rPr>
              <a:t>Sugeno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não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têm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consequente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linguístico</a:t>
            </a:r>
            <a:r>
              <a:rPr sz="1300" dirty="0">
                <a:solidFill>
                  <a:srgbClr val="212121"/>
                </a:solidFill>
              </a:rPr>
              <a:t>, </a:t>
            </a:r>
            <a:r>
              <a:rPr sz="1300" dirty="0" err="1">
                <a:solidFill>
                  <a:srgbClr val="212121"/>
                </a:solidFill>
              </a:rPr>
              <a:t>apenas</a:t>
            </a:r>
            <a:r>
              <a:rPr sz="1300" dirty="0">
                <a:solidFill>
                  <a:srgbClr val="212121"/>
                </a:solidFill>
              </a:rPr>
              <a:t> um </a:t>
            </a:r>
            <a:r>
              <a:rPr sz="1300" dirty="0" err="1">
                <a:solidFill>
                  <a:srgbClr val="212121"/>
                </a:solidFill>
              </a:rPr>
              <a:t>número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c_k</a:t>
            </a:r>
            <a:r>
              <a:rPr sz="1300" dirty="0">
                <a:solidFill>
                  <a:srgbClr val="212121"/>
                </a:solidFill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Para </a:t>
            </a:r>
            <a:r>
              <a:rPr sz="1300" dirty="0" err="1">
                <a:solidFill>
                  <a:srgbClr val="212121"/>
                </a:solidFill>
              </a:rPr>
              <a:t>transcrever</a:t>
            </a:r>
            <a:r>
              <a:rPr sz="1300" dirty="0">
                <a:solidFill>
                  <a:srgbClr val="212121"/>
                </a:solidFill>
              </a:rPr>
              <a:t> "SE ... ENTÃO </a:t>
            </a:r>
            <a:r>
              <a:rPr sz="1300" dirty="0" err="1">
                <a:solidFill>
                  <a:srgbClr val="212121"/>
                </a:solidFill>
              </a:rPr>
              <a:t>risco</a:t>
            </a:r>
            <a:r>
              <a:rPr sz="1300" dirty="0">
                <a:solidFill>
                  <a:srgbClr val="212121"/>
                </a:solidFill>
              </a:rPr>
              <a:t> = ALTO" </a:t>
            </a:r>
            <a:r>
              <a:rPr sz="1300" dirty="0" err="1">
                <a:solidFill>
                  <a:srgbClr val="212121"/>
                </a:solidFill>
              </a:rPr>
              <a:t>precisamos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mapear</a:t>
            </a:r>
            <a:r>
              <a:rPr sz="1300" dirty="0">
                <a:solidFill>
                  <a:srgbClr val="212121"/>
                </a:solidFill>
              </a:rPr>
              <a:t> ŷ a um label.</a:t>
            </a:r>
          </a:p>
          <a:p>
            <a:pPr algn="l">
              <a:spcBef>
                <a:spcPts val="300"/>
              </a:spcBef>
            </a:pPr>
            <a:endParaRPr sz="1300" dirty="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A </a:t>
            </a:r>
            <a:r>
              <a:rPr sz="1300" dirty="0" err="1">
                <a:solidFill>
                  <a:srgbClr val="212121"/>
                </a:solidFill>
              </a:rPr>
              <a:t>solução</a:t>
            </a:r>
            <a:r>
              <a:rPr sz="1300" dirty="0">
                <a:solidFill>
                  <a:srgbClr val="212121"/>
                </a:solidFill>
              </a:rPr>
              <a:t> (</a:t>
            </a:r>
            <a:r>
              <a:rPr sz="1300" dirty="0" err="1">
                <a:solidFill>
                  <a:srgbClr val="212121"/>
                </a:solidFill>
              </a:rPr>
              <a:t>definição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analítica</a:t>
            </a:r>
            <a:r>
              <a:rPr sz="1300" dirty="0">
                <a:solidFill>
                  <a:srgbClr val="212121"/>
                </a:solidFill>
              </a:rPr>
              <a:t> manual):</a:t>
            </a: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5 MFs </a:t>
            </a:r>
            <a:r>
              <a:rPr sz="1300" dirty="0" err="1">
                <a:solidFill>
                  <a:srgbClr val="212121"/>
                </a:solidFill>
              </a:rPr>
              <a:t>triangulares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uniformemente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espaçadas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em</a:t>
            </a:r>
            <a:r>
              <a:rPr sz="1300" dirty="0">
                <a:solidFill>
                  <a:srgbClr val="212121"/>
                </a:solidFill>
              </a:rPr>
              <a:t> [0, 1]:</a:t>
            </a: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</a:t>
            </a:r>
            <a:r>
              <a:rPr sz="1300" dirty="0" err="1">
                <a:solidFill>
                  <a:srgbClr val="212121"/>
                </a:solidFill>
              </a:rPr>
              <a:t>centros</a:t>
            </a:r>
            <a:r>
              <a:rPr sz="1300" dirty="0">
                <a:solidFill>
                  <a:srgbClr val="212121"/>
                </a:solidFill>
              </a:rPr>
              <a:t>  c = [1/6, 2/6, 3/6, 4/6, 5/6]</a:t>
            </a: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</a:t>
            </a:r>
            <a:r>
              <a:rPr sz="1300" dirty="0" err="1">
                <a:solidFill>
                  <a:srgbClr val="212121"/>
                </a:solidFill>
              </a:rPr>
              <a:t>meia-largura</a:t>
            </a:r>
            <a:r>
              <a:rPr sz="1300" dirty="0">
                <a:solidFill>
                  <a:srgbClr val="212121"/>
                </a:solidFill>
              </a:rPr>
              <a:t>  </a:t>
            </a:r>
            <a:r>
              <a:rPr sz="1300" dirty="0" err="1">
                <a:solidFill>
                  <a:srgbClr val="212121"/>
                </a:solidFill>
              </a:rPr>
              <a:t>hw</a:t>
            </a:r>
            <a:r>
              <a:rPr sz="1300" dirty="0">
                <a:solidFill>
                  <a:srgbClr val="212121"/>
                </a:solidFill>
              </a:rPr>
              <a:t> = 1/6  →  </a:t>
            </a:r>
            <a:r>
              <a:rPr sz="1300" dirty="0" err="1">
                <a:solidFill>
                  <a:srgbClr val="212121"/>
                </a:solidFill>
              </a:rPr>
              <a:t>partição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exata</a:t>
            </a:r>
            <a:r>
              <a:rPr sz="1300" dirty="0">
                <a:solidFill>
                  <a:srgbClr val="212121"/>
                </a:solidFill>
              </a:rPr>
              <a:t>, </a:t>
            </a:r>
            <a:r>
              <a:rPr sz="1300" dirty="0" err="1">
                <a:solidFill>
                  <a:srgbClr val="212121"/>
                </a:solidFill>
              </a:rPr>
              <a:t>sem</a:t>
            </a:r>
            <a:r>
              <a:rPr sz="1300" dirty="0">
                <a:solidFill>
                  <a:srgbClr val="212121"/>
                </a:solidFill>
              </a:rPr>
              <a:t> </a:t>
            </a:r>
            <a:r>
              <a:rPr sz="1300" dirty="0" err="1">
                <a:solidFill>
                  <a:srgbClr val="212121"/>
                </a:solidFill>
              </a:rPr>
              <a:t>sobreposição</a:t>
            </a:r>
            <a:endParaRPr sz="1300" dirty="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endParaRPr sz="1300" dirty="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μⱼ(ŷ) = max(0,  1 − |ŷ − cⱼ| / </a:t>
            </a:r>
            <a:r>
              <a:rPr sz="1300" dirty="0" err="1">
                <a:solidFill>
                  <a:srgbClr val="212121"/>
                </a:solidFill>
              </a:rPr>
              <a:t>hw</a:t>
            </a:r>
            <a:r>
              <a:rPr sz="1300" dirty="0">
                <a:solidFill>
                  <a:srgbClr val="212121"/>
                </a:solidFill>
              </a:rPr>
              <a:t>)</a:t>
            </a: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</a:t>
            </a:r>
            <a:r>
              <a:rPr sz="1300" dirty="0" err="1">
                <a:solidFill>
                  <a:srgbClr val="212121"/>
                </a:solidFill>
              </a:rPr>
              <a:t>rótulo</a:t>
            </a:r>
            <a:r>
              <a:rPr sz="1300" dirty="0">
                <a:solidFill>
                  <a:srgbClr val="212121"/>
                </a:solidFill>
              </a:rPr>
              <a:t>(ŷ) = argmaxⱼ μⱼ(ŷ)</a:t>
            </a:r>
          </a:p>
          <a:p>
            <a:pPr algn="l">
              <a:spcBef>
                <a:spcPts val="300"/>
              </a:spcBef>
            </a:pPr>
            <a:endParaRPr sz="1300" dirty="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Labels: </a:t>
            </a:r>
            <a:r>
              <a:rPr sz="1300" dirty="0" err="1">
                <a:solidFill>
                  <a:srgbClr val="212121"/>
                </a:solidFill>
              </a:rPr>
              <a:t>baixo</a:t>
            </a:r>
            <a:r>
              <a:rPr sz="1300" dirty="0">
                <a:solidFill>
                  <a:srgbClr val="212121"/>
                </a:solidFill>
              </a:rPr>
              <a:t> | </a:t>
            </a:r>
            <a:r>
              <a:rPr sz="1300" dirty="0" err="1">
                <a:solidFill>
                  <a:srgbClr val="212121"/>
                </a:solidFill>
              </a:rPr>
              <a:t>baixo_médio</a:t>
            </a:r>
            <a:r>
              <a:rPr sz="1300" dirty="0">
                <a:solidFill>
                  <a:srgbClr val="212121"/>
                </a:solidFill>
              </a:rPr>
              <a:t> | </a:t>
            </a:r>
            <a:r>
              <a:rPr sz="1300" dirty="0" err="1">
                <a:solidFill>
                  <a:srgbClr val="212121"/>
                </a:solidFill>
              </a:rPr>
              <a:t>médio</a:t>
            </a:r>
            <a:r>
              <a:rPr sz="1300" dirty="0">
                <a:solidFill>
                  <a:srgbClr val="212121"/>
                </a:solidFill>
              </a:rPr>
              <a:t> | </a:t>
            </a:r>
            <a:r>
              <a:rPr sz="1300" dirty="0" err="1">
                <a:solidFill>
                  <a:srgbClr val="212121"/>
                </a:solidFill>
              </a:rPr>
              <a:t>médio_alto</a:t>
            </a:r>
            <a:r>
              <a:rPr sz="1300" dirty="0">
                <a:solidFill>
                  <a:srgbClr val="212121"/>
                </a:solidFill>
              </a:rPr>
              <a:t> | alto</a:t>
            </a:r>
          </a:p>
          <a:p>
            <a:pPr algn="l">
              <a:spcBef>
                <a:spcPts val="300"/>
              </a:spcBef>
            </a:pPr>
            <a:endParaRPr sz="1300" dirty="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300" dirty="0">
                <a:solidFill>
                  <a:srgbClr val="212121"/>
                </a:solidFill>
              </a:rPr>
              <a:t>   Ex.: ŷ = 0,78  →  μ₄(alto) = 0,68  →  </a:t>
            </a:r>
            <a:r>
              <a:rPr sz="1300" dirty="0" err="1">
                <a:solidFill>
                  <a:srgbClr val="212121"/>
                </a:solidFill>
              </a:rPr>
              <a:t>risco</a:t>
            </a:r>
            <a:r>
              <a:rPr sz="1300" dirty="0">
                <a:solidFill>
                  <a:srgbClr val="212121"/>
                </a:solidFill>
              </a:rPr>
              <a:t> = alto</a:t>
            </a:r>
          </a:p>
        </p:txBody>
      </p:sp>
      <p:pic>
        <p:nvPicPr>
          <p:cNvPr id="8" name="Picture 7" descr="mfs_anf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143000"/>
            <a:ext cx="5998464" cy="521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6309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B72"/>
                </a:solidFill>
              </a:rPr>
              <a:t>↑ painel "Output — risco" (inferior direito)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Resultados: Métricas de Desempenho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984248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Modelo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143000"/>
            <a:ext cx="1709928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Parâmetros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1709928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Treino (s)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43000"/>
            <a:ext cx="1847087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Acurácia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143000"/>
            <a:ext cx="1847087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F1-Score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75520" y="1143000"/>
            <a:ext cx="1847087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AUC-ROC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856232"/>
            <a:ext cx="1984248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ANFIS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1856232"/>
            <a:ext cx="1709928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228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856232"/>
            <a:ext cx="1709928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14,9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856232"/>
            <a:ext cx="1847087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84,2 %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856232"/>
            <a:ext cx="1847087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85,9 %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75520" y="1856232"/>
            <a:ext cx="1847087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0,912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569464"/>
            <a:ext cx="1984248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MLP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80" y="2569464"/>
            <a:ext cx="1709928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2.881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2569464"/>
            <a:ext cx="1709928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4,8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2569464"/>
            <a:ext cx="1847087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81,5 %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2569464"/>
            <a:ext cx="1847087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82,5 %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2569464"/>
            <a:ext cx="1847087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212121"/>
                </a:solidFill>
              </a:rPr>
              <a:t>0,901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474720"/>
            <a:ext cx="1136599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500">
                <a:solidFill>
                  <a:srgbClr val="212121"/>
                </a:solidFill>
              </a:rPr>
              <a:t>▸  ANFIS supera o MLP em todas as métricas nesta execução</a:t>
            </a:r>
          </a:p>
          <a:p>
            <a:pPr algn="l">
              <a:spcBef>
                <a:spcPts val="600"/>
              </a:spcBef>
            </a:pPr>
            <a:r>
              <a:rPr sz="1500">
                <a:solidFill>
                  <a:srgbClr val="212121"/>
                </a:solidFill>
              </a:rPr>
              <a:t>▸  13× menos parâmetros (228 vs 2.881)</a:t>
            </a:r>
          </a:p>
          <a:p>
            <a:pPr algn="l">
              <a:spcBef>
                <a:spcPts val="600"/>
              </a:spcBef>
            </a:pPr>
            <a:r>
              <a:rPr sz="1500">
                <a:solidFill>
                  <a:srgbClr val="212121"/>
                </a:solidFill>
              </a:rPr>
              <a:t>▸  ANFIS ~3× mais lento para treinar — aceitável em produção offline</a:t>
            </a:r>
          </a:p>
          <a:p>
            <a:pPr algn="l">
              <a:spcBef>
                <a:spcPts val="600"/>
              </a:spcBef>
            </a:pPr>
            <a:r>
              <a:rPr sz="1500">
                <a:solidFill>
                  <a:srgbClr val="212121"/>
                </a:solidFill>
              </a:rPr>
              <a:t>▸  MLP não oferece nenhuma explicação sobre suas predições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Funções de Pertinência Gaussianas Aprendidas (pós-treinamento)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pic>
        <p:nvPicPr>
          <p:cNvPr id="7" name="Picture 6" descr="mfs_anf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3659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Regras Linguísticas Extraídas — Top-10 por Força de Disparo Média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R1 BAIXO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88720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CPT=ATA, RBP=normal, Chol=alto,  FBS=0, ECG=Normal, MaxHR=alta,  Ang=N, OP=normal,  ST=Up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78254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R2 ALTO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23974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CPT=ASY, RBP=normal, Chol=desej, FBS=0, ECG=Normal, MaxHR=baixa, Ang=Y, OP=elevado, ST=Flat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3508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R3 ALTO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59228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Age=idoso, Sex=M, CPT=ASY, RBP=normal, Chol=alto,  FBS=0, ECG=ST,     MaxHR=baixa, Ang=Y, OP=elevado, ST=Flat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48762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R4 BAIXO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494482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CPT=ATA, RBP=elevado,Chol=desej, FBS=0, ECG=Normal, MaxHR=baixa, Ang=N, OP=normal,  ST=Up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84016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R5 BAIXO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929736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CPT=ATA, RBP=otimo,  Chol=desej, FBS=0, ECG=Normal, MaxHR=baixa, Ang=N, OP=normal,  ST=Up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19270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R6 BAIXO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364990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Sex=F, CPT=ATA, RBP=otimo,  Chol=alto,  FBS=0, ECG=Normal, MaxHR=baixa, Ang=N, OP=normal,  ST=Up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754524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R7 ALTO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800244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Age=idoso, Sex=M, CPT=ASY, RBP=normal, Chol=desej, FBS=0, ECG=LVH,    MaxHR=baixa, Ang=Y, OP=elevado, ST=Flat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189778"/>
            <a:ext cx="1005840" cy="40782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R8 BAIXO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235498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CPT=NAP, RBP=normal, Chol=desej, FBS=0, ECG=Normal, MaxHR=alta,  Ang=N, OP=normal,  ST=Up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625032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R9 ALTO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670752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CPT=ASY, RBP=otimo,  Chol=desej, FBS=1, ECG=Normal, MaxHR=baixa, Ang=N, OP=normal,  ST=Flat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060286"/>
            <a:ext cx="1005840" cy="40782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R10 ALTO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106006"/>
            <a:ext cx="10268712" cy="43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Age=jovem, Sex=M, CPT=ASY, RBP=elevado,Chol=desej, FBS=0, ECG=Normal, MaxHR=baixa, Ang=Y, OP=elevado, ST=Flat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Comparação de Risco: ANFIS vs MLP (Conjunto de Teste)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pic>
        <p:nvPicPr>
          <p:cNvPr id="7" name="Picture 6" descr="risk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3659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Análise: ANFIS como Alternativa Interpretável ao MLP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1365992" cy="6400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E7D32"/>
                </a:solidFill>
              </a:rPr>
              <a:t>ANFIS supera o MLP em todas as métricas com 13× menos parâmetros e produz regras linguísticas auditáveis.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11365992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Eficiência paramétrica: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228 vs 2.881 parâmetros — centros e variâncias têm interpretação direta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Cada c_k aprendido representa a "opinião" daquela regra sobre o risco</a:t>
            </a:r>
          </a:p>
          <a:p>
            <a:pPr algn="l">
              <a:spcBef>
                <a:spcPts val="300"/>
              </a:spcBef>
            </a:pPr>
            <a:endParaRPr sz="14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Interpretabilidade genuína: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ST_Slope=Flat + ExerciseAngina=Y + Oldpeak=elevado → padrão recorrente de alto risco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Compatível com literatura médica sobre isquemia cardíaca</a:t>
            </a:r>
          </a:p>
          <a:p>
            <a:pPr algn="l">
              <a:spcBef>
                <a:spcPts val="300"/>
              </a:spcBef>
            </a:pPr>
            <a:endParaRPr sz="14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Tradeoff velocidade: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ANFIS: 14,9 s  vs  MLP: 4,8 s — diferença aceitável em produção offline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Pontos de Atenção e Limitações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1365992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1.  Explosão de regras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n_regras ∝ num_mfs^n_inputs — inviável sem seleção/deduplicação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Solução: K-Means como filtro + deduplicação por combo de MFs dominantes</a:t>
            </a:r>
          </a:p>
          <a:p>
            <a:pPr algn="l">
              <a:spcBef>
                <a:spcPts val="300"/>
              </a:spcBef>
            </a:pPr>
            <a:endParaRPr sz="14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2.  Features categóricas em sistemas fuzzy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Não existe grau de pertinência natural entre categorias discretas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MixedFuzzyLayer usa one-hot suavizado:  μ=0,95 (certa) / 0,05/(n−1) (demais)</a:t>
            </a:r>
          </a:p>
          <a:p>
            <a:pPr algn="l">
              <a:spcBef>
                <a:spcPts val="300"/>
              </a:spcBef>
            </a:pPr>
            <a:endParaRPr sz="14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3.  Sensibilidade à inicialização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K-Means determinístico (semente fixa) — pool de regras pode variar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Penalidade de separação mitiga colapso de MFs durante treinamento</a:t>
            </a:r>
          </a:p>
          <a:p>
            <a:pPr algn="l">
              <a:spcBef>
                <a:spcPts val="300"/>
              </a:spcBef>
            </a:pPr>
            <a:endParaRPr sz="1400">
              <a:solidFill>
                <a:srgbClr val="212121"/>
              </a:solidFill>
            </a:endParaRP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4.  Testado em um único dataset (n=918)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12121"/>
                </a:solidFill>
              </a:rPr>
              <a:t>      Generalização para outros domínios requer validação adicional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Conclusões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1365992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ANFIS supera o MLP em acurácia, F1 e AUC nesta execução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228 parâmetros treináveis vs 2.881 do MLP  (13× mais eficiente)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Regras linguísticas auditáveis revelam os padrões clínicos aprendidos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Pipeline reproduzível: K-Means → inicialização → treino end-to-end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✅  Penalidade de separação garante MFs linguisticamente coerentes</a:t>
            </a:r>
          </a:p>
          <a:p>
            <a:pPr algn="l">
              <a:spcBef>
                <a:spcPts val="700"/>
              </a:spcBef>
            </a:pPr>
            <a:endParaRPr sz="1600">
              <a:solidFill>
                <a:srgbClr val="212121"/>
              </a:solidFill>
            </a:endParaRP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→  ANFIS é uma alternativa viável quando interpretabilidade é requisito,</a:t>
            </a:r>
          </a:p>
          <a:p>
            <a:pPr algn="l">
              <a:spcBef>
                <a:spcPts val="700"/>
              </a:spcBef>
            </a:pPr>
            <a:r>
              <a:rPr sz="1600">
                <a:solidFill>
                  <a:srgbClr val="212121"/>
                </a:solidFill>
              </a:rPr>
              <a:t>    sem sacrifício — e neste caso com ganho — de desempenho preditivo.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Limitações e Trabalho Futuro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3F6E"/>
                </a:solidFill>
              </a:rPr>
              <a:t>Limitações atuais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27048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Testado em único dataset (n=918)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Categóricas sem MFs formalmente definidas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Pool de regras depende da semente K-Means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Treinamento ~3× mais lento que MLP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794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3F6E"/>
                </a:solidFill>
              </a:rPr>
              <a:t>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20624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Validar em datasets maiores e multi-classe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Incorporar conhecimento de especialistas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  na inicialização das MFs Gaussianas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Comparar com XGBoost + SHAP como baseline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12121"/>
                </a:solidFill>
              </a:rPr>
              <a:t>• Interface de extração em linguagem natural</a:t>
            </a:r>
          </a:p>
        </p:txBody>
      </p:sp>
      <p:pic>
        <p:nvPicPr>
          <p:cNvPr id="11" name="Picture 10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143000"/>
            <a:ext cx="690372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2194560"/>
            <a:ext cx="12188952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113659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212121"/>
                </a:solidFill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94176"/>
            <a:ext cx="113659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600" dirty="0">
                <a:solidFill>
                  <a:srgbClr val="556B72"/>
                </a:solidFill>
              </a:rPr>
              <a:t>Pessoal: </a:t>
            </a:r>
            <a:r>
              <a:rPr lang="pt-BR" sz="1600" dirty="0">
                <a:solidFill>
                  <a:srgbClr val="556B72"/>
                </a:solidFill>
                <a:hlinkClick r:id="rId3"/>
              </a:rPr>
              <a:t>Victor.m.bertini@gmail.com</a:t>
            </a:r>
            <a:endParaRPr lang="pt-BR" sz="1600" dirty="0">
              <a:solidFill>
                <a:srgbClr val="556B72"/>
              </a:solidFill>
            </a:endParaRPr>
          </a:p>
          <a:p>
            <a:pPr algn="l"/>
            <a:r>
              <a:rPr lang="pt-BR" sz="1600" b="0" i="0" dirty="0">
                <a:solidFill>
                  <a:srgbClr val="556B72"/>
                </a:solidFill>
              </a:rPr>
              <a:t>Universitário: </a:t>
            </a:r>
            <a:r>
              <a:rPr lang="pt-BR" sz="1600" b="0" i="0" dirty="0">
                <a:solidFill>
                  <a:srgbClr val="556B72"/>
                </a:solidFill>
                <a:hlinkClick r:id="rId4"/>
              </a:rPr>
              <a:t>v194761@dac.unicamp.com.b</a:t>
            </a:r>
            <a:r>
              <a:rPr lang="pt-BR" sz="1600" dirty="0">
                <a:solidFill>
                  <a:srgbClr val="556B72"/>
                </a:solidFill>
                <a:hlinkClick r:id="rId4"/>
              </a:rPr>
              <a:t>r</a:t>
            </a:r>
            <a:r>
              <a:rPr lang="pt-BR" sz="1600" dirty="0">
                <a:solidFill>
                  <a:srgbClr val="556B72"/>
                </a:solidFill>
              </a:rPr>
              <a:t> </a:t>
            </a:r>
            <a:endParaRPr sz="1600" b="0" i="0" dirty="0">
              <a:solidFill>
                <a:srgbClr val="556B72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425196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B72"/>
                </a:solidFill>
              </a:rPr>
              <a:t>github.com/vm-bertini/Fuzzy-Projeto-Final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02920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7D32"/>
                </a:solidFill>
              </a:rPr>
              <a:t>"ANFIS: interpretabilidade sem sacrificar performance"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Apêndice A — Heatmap das Regras ANFIS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pic>
        <p:nvPicPr>
          <p:cNvPr id="7" name="Picture 6" descr="rul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3659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Apêndice B — Partição K-Means (pré-ANFIS)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pic>
        <p:nvPicPr>
          <p:cNvPr id="7" name="Picture 6" descr="mfs_kme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36599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91640" y="118872"/>
            <a:ext cx="102687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Apêndice C — Glossário das Features do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3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611112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Victor M. Bertini  |  FEEC / Unicamp  |  Junho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801368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143000"/>
            <a:ext cx="1252728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Tipo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43000"/>
            <a:ext cx="8567928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Descrição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08760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1508760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1508760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Idade do paciente (anos)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33956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Sex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80" y="1933956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1933956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Sexo biológico: M = masculino, F = feminino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59152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ChestPainType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2359152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20440" y="2359152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Tipo de dor torácica: ATA = dor atípica, NAP = dor não-anginosa, ASY = assintomático, TA = angina típica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84348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RestingBP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2784348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4348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Pressão arterial em repouso (mmHg); valores 0 substituídos pela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209544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Cholesterol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40280" y="3209544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3209544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Colesterol sérico (mg/dL); valores 0 substituídos pela mediana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634740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FastingBS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40280" y="3634740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634740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Glicemia em jejum: 1 = glicemia &gt; 120 mg/dL (possível diabetes), 0 = normal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059936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RestingECG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40280" y="4059936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20440" y="4059936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Resultado do ECG em repouso: Normal, ST = anormalidade onda ST-T, LVH = hipertrofia ventricular esquerda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485132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MaxHR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0280" y="4485132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4485132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Frequência cardíaca máxima atingida durante teste de esforço (bpm)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10328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ExerciseAngina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40280" y="4910328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0440" y="4910328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Angina induzida por exercício: Y = sim, N = não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335524"/>
            <a:ext cx="180136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Oldpeak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0280" y="5335524"/>
            <a:ext cx="12527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Numérica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5335524"/>
            <a:ext cx="8567928" cy="4069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Depressão do segmento ST induzida por exercício em relação ao repouso (mm)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760720"/>
            <a:ext cx="180136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1">
                <a:solidFill>
                  <a:srgbClr val="212121"/>
                </a:solidFill>
              </a:rPr>
              <a:t>ST_Slope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0280" y="5760720"/>
            <a:ext cx="12527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Categórica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5760720"/>
            <a:ext cx="8567928" cy="40690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212121"/>
                </a:solidFill>
              </a:rPr>
              <a:t>Inclinação do segmento ST no pico do exercício: Up = ascendente (saudável), Flat = plano, Down = descendente (risco)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2616</Words>
  <Application>Microsoft Office PowerPoint</Application>
  <PresentationFormat>Custom</PresentationFormat>
  <Paragraphs>356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Victor Bertini</cp:lastModifiedBy>
  <cp:revision>1</cp:revision>
  <dcterms:created xsi:type="dcterms:W3CDTF">2013-01-27T09:14:16Z</dcterms:created>
  <dcterms:modified xsi:type="dcterms:W3CDTF">2026-06-23T07:13:05Z</dcterms:modified>
  <cp:category/>
</cp:coreProperties>
</file>