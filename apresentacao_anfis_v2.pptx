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88952" cy="2377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Sistemas Neuro-Fuzzy para Classificação de Risco Cardíaco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8E6C9"/>
                </a:solidFill>
              </a:rPr>
              <a:t>Comparação entre ANFIS e MLP: Acurácia vs Interpretabilidade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Victor M. Bertini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FEEC / Unicamp  —  Lógica Fuzzy  —  Junho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Motivação: O Custo da Caixa-Preta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Motivação: O Custo da Caixa-Preta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▸  Modelos de ML alcançam alta acurácia em diagnóstico cardíaco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▸  Médicos precisam ENTENDER a decisão — não apenas confiar nela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▸  "Por que este paciente foi classificado como alto risco?"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▸  Regulações e protocolos clínicos exigem rastreabilidade das decisões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▸  Redes neurais tradicionais (MLP) não fornecem nenhuma explicação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→  Pergunta central: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    É possível ter desempenho comparável ao MLP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    COM interpretabilidade linguística?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 Lacuna: Acurácia vs Interpretabilidade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 Lacuna: Acurácia vs Interpretabilidade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51206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3F6E"/>
                </a:solidFill>
              </a:rPr>
              <a:t>MLP  —  Caixa-Preta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✓  Alta acurácia  (AUC ≈ 0,91)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✓  Treinamento rápido  (~5 s)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✗  Zero interpretabilidade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✗  Nenhuma regra auditável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✗  Inaceitável em contextos regulados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3288" y="365760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55A64"/>
                </a:solidFill>
              </a:rPr>
              <a:t>←  vs  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280160"/>
            <a:ext cx="5303520" cy="5120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ANFIS  —  Neuro-Fuzzy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74519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✓  Acurácia comparável  (AUC ≈ 0,90)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✓  Regras linguísticas auditáveis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✓  Parâmetros com significado físico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✓  13× menos parâmetros que MLP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~  Treinamento ligeiramente mais lento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Estrutura da Apresentação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Estrutura da Apresentação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36015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212121"/>
                </a:solidFill>
              </a:rPr>
              <a:t>1.   Framework Teórico — arquitetura ANFIS camada a camada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212121"/>
                </a:solidFill>
              </a:rPr>
              <a:t>2.   Dataset e Configuração Experimental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212121"/>
                </a:solidFill>
              </a:rPr>
              <a:t>3.   Pipeline K-Means — geração do pool de regras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212121"/>
                </a:solidFill>
              </a:rPr>
              <a:t>4.   Métricas de Avaliação utilizadas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212121"/>
                </a:solidFill>
              </a:rPr>
              <a:t>5.   MFs de Saída — conversão TS → rótulo linguístico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212121"/>
                </a:solidFill>
              </a:rPr>
              <a:t>6.   Resultados: desempenho, MFs aprendidas e regras extraídas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212121"/>
                </a:solidFill>
              </a:rPr>
              <a:t>7.   Análise Comparativa ANFIS × MLP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212121"/>
                </a:solidFill>
              </a:rPr>
              <a:t>8.   Conclusões e Trabalho Futuro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Arquitetura ANFIS — Camada a Camada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Arquitetura ANFIS — Camada a Camada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34440"/>
            <a:ext cx="2331720" cy="5029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Entrada
[B, 11]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30759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55A64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234440"/>
            <a:ext cx="23317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MixedFuzzyLayer
[B, 11, 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30759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55A64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234440"/>
            <a:ext cx="233172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ClusterRuleLayer
[B, 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30759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55A64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1234440"/>
            <a:ext cx="23317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DefuzzyLayer
[B, 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130759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55A64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1234440"/>
            <a:ext cx="2331720" cy="5029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Sigmoid → P(d)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19202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MixedFuzzyLayer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22860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Numéricas (5): MFs Gaussianas treináveis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μ(x) = exp(−½·((x−c)/σ)²)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c, σ ∈ ℝ  ajustados por backprop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Categóricas (6): one-hot suavizado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out[cat certa] = 0,95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out[demais]   = 0,05/(n−1)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Exemplos categóricos: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ChestPainType: ASY→3, ATA→0, NAP→1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ExerciseAngina: N→0, Y→1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ST_Slope: Down→0, Flat→1, Up→2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9202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</a:rPr>
              <a:t>ClusterRuleLayer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2860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T-norma produto (diferenciável):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w_k = ∏ᵢ μᵢ,combo[k,i](xᵢ)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combo[k,i] = índice da MF da regra k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na feature i (gerado pelo K-Means)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Normalização: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w̃_k = w_k / (Σⱼ wⱼ + ε)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Sem parâmetros treináveis.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rule_idx salvo como register_buffer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(move para GPU automaticamente)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19202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DefuzzyLayer  + 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2860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Takagi-Sugeno (ordem 0):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ŷ = Σ_k w̃_k · c_k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c_k ∈ nn.Linear(R→1) — consequentes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Loss = BCE + λ·penalidade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BCE(σ(ŷ), y)  — erro de classificação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λ·Σᵢ&lt;ⱼ relu(σᵢ+σⱼ−|cᵢ−cⱼ|)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→ penaliza MFs sobrepostas: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se |cᵢ−cⱼ| &lt; σᵢ+σⱼ, MF j cabe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dentro de MF i → partição incoerente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212121"/>
                </a:solidFill>
              </a:rPr>
              <a:t>  λ=0,1 mantém como regularizador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e Configuração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Dataset e Configuração Experimental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F6E"/>
                </a:solidFill>
              </a:rPr>
              <a:t>Heart Failure Prediction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918 pacientes adultos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Variável alvo: HeartDisease (0/1)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Prevalência: ~55% positivos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Split: 80% treino / 20% teste  (≈734 / 184)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Features numéricas (5):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Age, RestingBP, Cholesterol,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MaxHR, Oldpeak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Features categóricas (6):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Sex, ChestPainType, FastingBS,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RestingECG, ExerciseAngina, ST_Slope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Configuração: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NUM_MFS=3  |  EPOCHS=200  |  lr=1e-3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ANFIS pool: 200 clusters K-Means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MLP: camadas [64, 32]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2801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F6E"/>
                </a:solidFill>
              </a:rPr>
              <a:t>Exemplo de registros no dataset: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691640"/>
            <a:ext cx="694944" cy="384048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691640"/>
            <a:ext cx="694944" cy="384048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95744" y="1691640"/>
            <a:ext cx="694944" cy="384048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ChestPain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08976" y="1691640"/>
            <a:ext cx="694944" cy="384048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MaxHR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22208" y="1691640"/>
            <a:ext cx="694944" cy="384048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ExAngina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691640"/>
            <a:ext cx="694944" cy="384048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Oldpeak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48672" y="1691640"/>
            <a:ext cx="694944" cy="384048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ST_Slope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1904" y="1691640"/>
            <a:ext cx="694944" cy="384048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075688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2075688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5744" y="2075688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8976" y="2075688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172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22208" y="2075688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075688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0.0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48672" y="2075688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1904" y="2075688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459736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49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2512" y="2459736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95744" y="2459736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NAP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08976" y="2459736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156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22208" y="2459736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2459736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1.0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48672" y="2459736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Flat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61904" y="2459736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2843784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37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2843784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95744" y="2843784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8976" y="2843784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 98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22208" y="2843784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2843784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0.0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48672" y="2843784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Up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61904" y="2843784"/>
            <a:ext cx="694944" cy="3657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3227832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48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2512" y="3227832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95744" y="3227832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ASY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08976" y="3227832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108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22208" y="3227832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3227832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1.5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48672" y="3227832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Flat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61904" y="3227832"/>
            <a:ext cx="6949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36118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5A64"/>
                </a:solidFill>
              </a:rPr>
              <a:t>* HD = HeartDisease (variável alvo)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0690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F6E"/>
                </a:solidFill>
              </a:rPr>
              <a:t>Pré-processamento: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4434840"/>
            <a:ext cx="6126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▸  PartialScaler: z-score só nas features numéricas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▸  Categóricas mantêm código inteiro (pd.Categorical.codes)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▸  Cholesterol/RestingBP=0 → substituído pela mediana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Geração do Pool de Regras via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Geração do Pool de Regras via K-Means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57432" cy="6400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Importante: a fuzzificação percentílica abaixo é um ARTIFÍCIO de mapeamento — não são as MFs do ANFIS. Servem exclusivamente para selecionar quais combinações de antecedentes existem no pool de regras.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274552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1.  Picos de MF por percentil  (generalização para facilitar o mapeamento):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    pcts = [25%, 50%, 75%]  →  peaks[fi] = percentis da feature fi no treino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    Cada cluster center é mapeado para baixo / médio / alto por argmax da MF triangular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    → Artifício: converte vetor contínuo em índice discreto de MF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2.  K-Means (200 clusters) particiona o espaço de entrada em regiões densas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    Sem supervisão — apenas agrupa por proximidade no espaço das features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3.  Mapeamento dominante por cluster: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    Numérica:   argmax μ_triangular(centro_k, pico_j)  →  índice 0,1,2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    Categórica: round(centro_k)                        →  código inteiro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4.  Deduplicação: clusters com mesmo vetor de MFs → uma regra única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    200 clusters → ~80–120 combos únicos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5.  Centros Gaussianos do ANFIS inicializados nos percentis dos centros K-Means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    Treino end-to-end refina c, σ e c_k independentemente deste mapeamento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Métricas de Avaliação Utilizadas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Métricas de Avaliação Utilizadas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749039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Área sob a curva ROC (Receiver Operating Characteristic).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Mede a capacidade do modelo de separar as classes independentemente do limiar.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AUC = 1,0 → separação perfeita  |  AUC = 0,5 → equivale a chute aleatório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280160"/>
            <a:ext cx="3749039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Acurácia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8288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Proporção de predições corretas sobre o total de amostras.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Acurácia = (VP + VN) / N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Sensível ao desbalanceamento de classes — complementada pelo F1.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280160"/>
            <a:ext cx="3749039" cy="5029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Média harmônica entre Precisão e Revocação.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F1 = 2 · (Precisão · Revocação) / (Precisão + Revocação)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Preferível à acurácia quando as classes estão desbalanceadas.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55A64"/>
                </a:solidFill>
              </a:rPr>
              <a:t>Limiar de decisão em todas as métricas de classificação: 0,5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MFs de Saída — Conversão do Resultado TS em Rótulo Linguístico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MFs de Saída — Conversão do Resultado TS em Rótulo Linguístico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F6E"/>
                </a:solidFill>
              </a:rPr>
              <a:t>O problema: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A camada DefuzzyLayer produz um valor contínuo ŷ ∈ ℝ.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Após sigmoid: P(doença) ∈ [0, 1].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Regras Takagi-Sugeno não têm consequente linguístico —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apenas um número (c_k aprendido).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Para transcrever regras do tipo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"SE ... ENTÃO risco = ALTO"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precisamos converter ŷ em um rótulo discreto.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F6E"/>
                </a:solidFill>
              </a:rPr>
              <a:t>A solução (análise manual):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920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5 MFs triangulares uniformemente espaçadas em [0,1]: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centros:  c = [1/6, 2/6, 3/6, 4/6, 5/6]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meia-largura:  hw = 1/6  (partição exata, sem sobreposição)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μⱼ(ŷ) = max(0,  1 − |ŷ − cⱼ| / hw)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  rótulo(ŷ) = argmaxⱼ  μⱼ(ŷ)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12121"/>
                </a:solidFill>
              </a:rPr>
              <a:t>Ex.: ŷ = 0,78  →  μ₄(alto) = 0,68  →  risco = alto</a:t>
            </a:r>
          </a:p>
        </p:txBody>
      </p:sp>
      <p:pic>
        <p:nvPicPr>
          <p:cNvPr id="10" name="Picture 9" descr="mfs_anf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5852160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649224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55A64"/>
                </a:solidFill>
              </a:rPr>
              <a:t>↑  painel "Output — risco" (canto inferior direito)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Resultados: Métricas de Desempenho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Resultados: Métricas de Desempenho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883664" cy="676656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417320"/>
            <a:ext cx="1655064" cy="676656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Parâmetros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417320"/>
            <a:ext cx="1655064" cy="676656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Treino (s)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417320"/>
            <a:ext cx="1792224" cy="676656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Acurácia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417320"/>
            <a:ext cx="1792224" cy="676656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417320"/>
            <a:ext cx="1792224" cy="676656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1883664" cy="6766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ANFIS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194560"/>
            <a:ext cx="1655064" cy="6766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228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194560"/>
            <a:ext cx="1655064" cy="6766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13,8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194560"/>
            <a:ext cx="1792224" cy="6766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83,2 %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194560"/>
            <a:ext cx="1792224" cy="6766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84,7 %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2194560"/>
            <a:ext cx="1792224" cy="6766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0,903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71800"/>
            <a:ext cx="1883664" cy="676656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MLP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971800"/>
            <a:ext cx="1655064" cy="676656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2.881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971800"/>
            <a:ext cx="1655064" cy="676656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4,6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971800"/>
            <a:ext cx="1792224" cy="676656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83,7 %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971800"/>
            <a:ext cx="1792224" cy="676656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85,0 %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2971800"/>
            <a:ext cx="1792224" cy="676656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0,910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86200"/>
            <a:ext cx="1127455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 ANFIS: 228 parâmetros  vs  MLP: 2.881  →  13× mais eficiente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 Diferença de AUC: apenas Δ = 0,007  (estatisticamente negligenciável)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 ANFIS perde levemente em velocidade de treino (~3× mais lento)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212121"/>
                </a:solidFill>
              </a:rPr>
              <a:t>▸  ANFIS compensa com regras auditáveis — MLP não oferece nenhuma explicação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Funções de Pertinência Aprendidas pelo ANFIS (pós-treinamento)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Funções de Pertinência Aprendidas pelo ANFIS (pós-treinamento)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pic>
        <p:nvPicPr>
          <p:cNvPr id="6" name="Picture 5" descr="mfs_anf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8231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Regras Linguísticas Extraídas — Top-10 por Força de Disparo Média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Regras Linguísticas Extraídas — Top-10 por Força de Disparo Média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371600" cy="393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R1  ALTO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280160"/>
            <a:ext cx="10177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Age=idoso, ChestPain=ASY, MaxHR=baixa, ExAngina=Y, Oldpeak=elevado, ST=Flat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55064"/>
            <a:ext cx="1371600" cy="39319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R2  BAIXO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00784"/>
            <a:ext cx="10177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ChestPain=ATA, MaxHR=alta,  ExAngina=N, Oldpeak=normal,  ST=Up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75688"/>
            <a:ext cx="1371600" cy="393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R3  ALTO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121408"/>
            <a:ext cx="10177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Age=idoso, ChestPain=ASY, Chol=desejável, MaxHR=baixa, ExAngina=Y, Oldpeak=elevado, ST=Flat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96312"/>
            <a:ext cx="1371600" cy="393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R4  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542032"/>
            <a:ext cx="10177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ChestPain=ASY, MaxHR=baixa, ExAngina=Y, Oldpeak=elevado, ST=Flat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16936"/>
            <a:ext cx="1371600" cy="39319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R5  BAIXO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962656"/>
            <a:ext cx="10177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ChestPain=NAP, MaxHR=alta,  ExAngina=N, Oldpeak=normal,  ST=Up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337560"/>
            <a:ext cx="1371600" cy="393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R6  MÉD_ALTO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83280"/>
            <a:ext cx="10177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Age=idoso, ChestPain=ASY, RestingBP=ótimo, Chol=alto, MaxHR=baixa, ExAngina=Y, ST=Flat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58184"/>
            <a:ext cx="1371600" cy="39319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R7  BAIXO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803904"/>
            <a:ext cx="10177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ChestPain=ATA, RestingBP=ótimo, MaxHR=alta, ExAngina=N, Oldpeak=normal, ST=Up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178808"/>
            <a:ext cx="1371600" cy="3931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R8  ALTO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224528"/>
            <a:ext cx="10177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Age=idoso, ChestPain=NAP, MaxHR=baixa, ExAngina=Y, Oldpeak=elevado, ST=Flat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99432"/>
            <a:ext cx="1371600" cy="39319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R9  BAIXO_M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645152"/>
            <a:ext cx="10177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ChestPain=ASY, RestingBP=ótimo, Chol=alto, MaxHR=alta, ExAngina=N, ST=Up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020056"/>
            <a:ext cx="1371600" cy="393192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R10 BAIXO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065776"/>
            <a:ext cx="10177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Age=jovem, ChestPain=ATA, RestingBP=ótimo, MaxHR=baixa, ExAngina=N, Oldpeak=normal, ST=Up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Comparação de Risco: ANFIS vs MLP por Paciente (Conjunto de Teste)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Comparação de Risco: ANFIS vs MLP por Paciente (Conjunto de Teste)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pic>
        <p:nvPicPr>
          <p:cNvPr id="6" name="Picture 5" descr="ris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8231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Análise: ANFIS como Alternativa Interpretável ao MLP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Análise: ANFIS como Alternativa Interpretável ao MLP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57432" cy="7772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ANFIS perde apenas 0,007 de AUC em relação ao MLP, com 13× menos parâmetros e regras linguísticas auditáveis por especialistas.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Eficiência paramétrica: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228 vs 2.881 parâmetros — centros e variâncias das MFs têm interpretação direta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Cada c_k aprendido indica a "opinião" daquela regra sobre a saída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Interpretabilidade genuína: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ST_Slope=Flat + ExerciseAngina=Y + Oldpeak=elevado → padrão recorrente de alto risco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Compatível com literatura médica sobre isquemia cardíaca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Tradeoff velocidade: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ANFIS: 13,8 s (200 épocas)  vs  MLP: 4,6 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Diferença aceitável em produção offline / ambiente clínico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Pontos de Atenção e 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Pontos de Atenção e Limitações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7455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1.  Explosão de regras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    n_regras ∝ num_mfs^n_inputs — inviável sem seleção/deduplicação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    Solução aplicada: K-Means como filtro + deduplicação por combo de MFs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2.  Features categóricas em sistemas fuzzy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    Não existe grau de pertinência natural entre categorias discretas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    MixedFuzzyLayer usa one-hot suavizado como aproximação prática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    Formalmente: μ(cat correta) = 0,95;  μ(demais) = 0,05 / (n−1)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3.  Sensibilidade à inicialização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    K-Means determinístico (semente fixa) — pool de regras pode variar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    Penalidade de separação mitiga colapso de MFs durante treinamento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4.  Testado em um único dataset (n=918)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    Generalização para outros domínios requer validação adicional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Conclusões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✅  ANFIS atinge AUC 0,903 — comparável ao MLP (0,910) no dataset Heart Failure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✅  228 parâmetros treináveis vs 2.881 do MLP  (13× mais eficiente)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✅  Regras linguísticas auditáveis: centros Gaussianos revelam limiares clínicos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✅  Pipeline reproduzível: K-Means → inicialização → treino end-to-end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✅  Penalidade de separação garante MFs linguisticamente coerentes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→  ANFIS é uma alternativa viável quando interpretabilidade é requisito,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212121"/>
                </a:solidFill>
              </a:rPr>
              <a:t>    sem sacrifício significativo de desempenho preditivo.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Limitações e Trabalho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Limitações e Trabalho Futuro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F6E"/>
                </a:solidFill>
              </a:rPr>
              <a:t>Limitações atuais: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• Testado em único dataset (n=918)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• Categóricas sem MFs formalmente definidas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• Pool de regras depende da semente K-Means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• Treinamento ~3× mais lento que MLP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F6E"/>
                </a:solidFill>
              </a:rPr>
              <a:t>Próximos passos: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• Validar em datasets maiores e multi-classe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• Incorporar conhecimento de especialistas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  na inicialização das MFs Gaussianas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• Comparar com XGBoost + SHAP</a:t>
            </a:r>
          </a:p>
          <a:p>
            <a:pPr algn="l">
              <a:spcBef>
                <a:spcPts val="500"/>
              </a:spcBef>
            </a:pPr>
            <a:r>
              <a:rPr sz="1300">
                <a:solidFill>
                  <a:srgbClr val="212121"/>
                </a:solidFill>
              </a:rPr>
              <a:t>• Interface de extração em linguagem natural</a:t>
            </a:r>
          </a:p>
        </p:txBody>
      </p:sp>
      <p:pic>
        <p:nvPicPr>
          <p:cNvPr id="10" name="Picture 9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34440"/>
            <a:ext cx="5943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88952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E6C9"/>
                </a:solidFill>
              </a:rPr>
              <a:t>victor.m.bertini@gmail.com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6C9"/>
                </a:solidFill>
              </a:rPr>
              <a:t>github.com/vm-bertini/Fuzzy-Projeto-Final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"ANFIS: interpretabilidade sem sacrificar performance"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Apêndice A — Heatmap das Regras ANFIS (Top-10)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Apêndice A — Heatmap das Regras ANFIS (Top-10)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pic>
        <p:nvPicPr>
          <p:cNvPr id="6" name="Picture 5" descr="ru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8231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Apêndice B — Partição K-Means (pré-ANFIS)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Apêndice B — Partição K-Means (pré-ANFIS)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Victor M. Bertini  |  FEEC / Unicamp  |  Junho 2026</a:t>
            </a:r>
          </a:p>
        </p:txBody>
      </p:sp>
      <p:pic>
        <p:nvPicPr>
          <p:cNvPr id="6" name="Picture 5" descr="mfs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823192" cy="5349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